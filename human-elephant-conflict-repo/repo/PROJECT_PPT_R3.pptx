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84" r:id="rId5"/>
    <p:sldId id="259" r:id="rId6"/>
    <p:sldId id="308" r:id="rId7"/>
    <p:sldId id="309" r:id="rId8"/>
    <p:sldId id="310" r:id="rId9"/>
    <p:sldId id="260" r:id="rId10"/>
    <p:sldId id="283" r:id="rId11"/>
    <p:sldId id="28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286" r:id="rId20"/>
    <p:sldId id="305" r:id="rId21"/>
    <p:sldId id="303" r:id="rId22"/>
    <p:sldId id="261" r:id="rId23"/>
    <p:sldId id="288" r:id="rId24"/>
    <p:sldId id="289" r:id="rId25"/>
    <p:sldId id="290" r:id="rId26"/>
    <p:sldId id="262" r:id="rId27"/>
    <p:sldId id="263" r:id="rId28"/>
    <p:sldId id="264" r:id="rId29"/>
    <p:sldId id="265" r:id="rId30"/>
    <p:sldId id="306" r:id="rId31"/>
    <p:sldId id="267" r:id="rId32"/>
    <p:sldId id="268" r:id="rId33"/>
    <p:sldId id="311" r:id="rId34"/>
    <p:sldId id="269" r:id="rId35"/>
    <p:sldId id="270" r:id="rId36"/>
    <p:sldId id="271" r:id="rId37"/>
    <p:sldId id="272" r:id="rId38"/>
    <p:sldId id="273" r:id="rId39"/>
    <p:sldId id="274" r:id="rId40"/>
    <p:sldId id="292" r:id="rId41"/>
    <p:sldId id="293" r:id="rId42"/>
    <p:sldId id="275" r:id="rId43"/>
    <p:sldId id="295" r:id="rId44"/>
    <p:sldId id="277" r:id="rId45"/>
    <p:sldId id="312" r:id="rId46"/>
    <p:sldId id="280" r:id="rId47"/>
    <p:sldId id="294" r:id="rId48"/>
    <p:sldId id="282" r:id="rId49"/>
  </p:sldIdLst>
  <p:sldSz cx="9144000" cy="6858000" type="screen4x3"/>
  <p:notesSz cx="9144000" cy="6858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47" autoAdjust="0"/>
  </p:normalViewPr>
  <p:slideViewPr>
    <p:cSldViewPr snapToGrid="0">
      <p:cViewPr>
        <p:scale>
          <a:sx n="66" d="100"/>
          <a:sy n="66" d="100"/>
        </p:scale>
        <p:origin x="1506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B7EBB-A614-47C9-B911-82675EBE0AD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78A15-1E64-4D2A-B5E2-4739CAD94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16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A47CD-A4AB-45DD-BCA2-CEC1E6E3D107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1CCF7-E620-40DB-85B6-E15D456C1843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F93CA-C9FA-4763-A37E-19EC1011750A}" type="datetime1">
              <a:rPr lang="en-US" smtClean="0"/>
              <a:t>3/3/2026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73B1C-11F6-46B0-BC87-2A10059939A8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0E200-E03E-4F37-9CCD-2D3CE1549818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182" y="6590014"/>
            <a:ext cx="7319645" cy="238125"/>
          </a:xfrm>
          <a:custGeom>
            <a:avLst/>
            <a:gdLst/>
            <a:ahLst/>
            <a:cxnLst/>
            <a:rect l="l" t="t" r="r" b="b"/>
            <a:pathLst>
              <a:path w="7319645" h="238125">
                <a:moveTo>
                  <a:pt x="7181905" y="0"/>
                </a:moveTo>
                <a:lnTo>
                  <a:pt x="0" y="0"/>
                </a:lnTo>
                <a:lnTo>
                  <a:pt x="0" y="237702"/>
                </a:lnTo>
                <a:lnTo>
                  <a:pt x="7319308" y="237702"/>
                </a:lnTo>
                <a:lnTo>
                  <a:pt x="7181905" y="0"/>
                </a:lnTo>
                <a:close/>
              </a:path>
            </a:pathLst>
          </a:custGeom>
          <a:solidFill>
            <a:srgbClr val="86B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182" y="6640957"/>
            <a:ext cx="7398384" cy="217170"/>
          </a:xfrm>
          <a:custGeom>
            <a:avLst/>
            <a:gdLst/>
            <a:ahLst/>
            <a:cxnLst/>
            <a:rect l="l" t="t" r="r" b="b"/>
            <a:pathLst>
              <a:path w="7398384" h="217170">
                <a:moveTo>
                  <a:pt x="7267828" y="0"/>
                </a:moveTo>
                <a:lnTo>
                  <a:pt x="0" y="0"/>
                </a:lnTo>
                <a:lnTo>
                  <a:pt x="0" y="217039"/>
                </a:lnTo>
                <a:lnTo>
                  <a:pt x="7397938" y="217039"/>
                </a:lnTo>
                <a:lnTo>
                  <a:pt x="7267828" y="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26223" y="6343840"/>
            <a:ext cx="945515" cy="382270"/>
          </a:xfrm>
          <a:custGeom>
            <a:avLst/>
            <a:gdLst/>
            <a:ahLst/>
            <a:cxnLst/>
            <a:rect l="l" t="t" r="r" b="b"/>
            <a:pathLst>
              <a:path w="945515" h="382270">
                <a:moveTo>
                  <a:pt x="369366" y="93370"/>
                </a:moveTo>
                <a:lnTo>
                  <a:pt x="356209" y="46545"/>
                </a:lnTo>
                <a:lnTo>
                  <a:pt x="322122" y="18034"/>
                </a:lnTo>
                <a:lnTo>
                  <a:pt x="275145" y="3848"/>
                </a:lnTo>
                <a:lnTo>
                  <a:pt x="223316" y="0"/>
                </a:lnTo>
                <a:lnTo>
                  <a:pt x="162598" y="5029"/>
                </a:lnTo>
                <a:lnTo>
                  <a:pt x="114617" y="19824"/>
                </a:lnTo>
                <a:lnTo>
                  <a:pt x="79819" y="44005"/>
                </a:lnTo>
                <a:lnTo>
                  <a:pt x="58635" y="77139"/>
                </a:lnTo>
                <a:lnTo>
                  <a:pt x="51473" y="118846"/>
                </a:lnTo>
                <a:lnTo>
                  <a:pt x="54978" y="142849"/>
                </a:lnTo>
                <a:lnTo>
                  <a:pt x="66548" y="164477"/>
                </a:lnTo>
                <a:lnTo>
                  <a:pt x="87769" y="184505"/>
                </a:lnTo>
                <a:lnTo>
                  <a:pt x="120230" y="203733"/>
                </a:lnTo>
                <a:lnTo>
                  <a:pt x="189001" y="237693"/>
                </a:lnTo>
                <a:lnTo>
                  <a:pt x="201599" y="244322"/>
                </a:lnTo>
                <a:lnTo>
                  <a:pt x="212598" y="252552"/>
                </a:lnTo>
                <a:lnTo>
                  <a:pt x="220370" y="263956"/>
                </a:lnTo>
                <a:lnTo>
                  <a:pt x="223316" y="280136"/>
                </a:lnTo>
                <a:lnTo>
                  <a:pt x="218744" y="297510"/>
                </a:lnTo>
                <a:lnTo>
                  <a:pt x="206133" y="310908"/>
                </a:lnTo>
                <a:lnTo>
                  <a:pt x="187071" y="319532"/>
                </a:lnTo>
                <a:lnTo>
                  <a:pt x="163195" y="322580"/>
                </a:lnTo>
                <a:lnTo>
                  <a:pt x="144272" y="318211"/>
                </a:lnTo>
                <a:lnTo>
                  <a:pt x="127787" y="306666"/>
                </a:lnTo>
                <a:lnTo>
                  <a:pt x="116128" y="290360"/>
                </a:lnTo>
                <a:lnTo>
                  <a:pt x="111721" y="271653"/>
                </a:lnTo>
                <a:lnTo>
                  <a:pt x="111721" y="263156"/>
                </a:lnTo>
                <a:lnTo>
                  <a:pt x="0" y="263156"/>
                </a:lnTo>
                <a:lnTo>
                  <a:pt x="0" y="280136"/>
                </a:lnTo>
                <a:lnTo>
                  <a:pt x="1727" y="304012"/>
                </a:lnTo>
                <a:lnTo>
                  <a:pt x="18072" y="342214"/>
                </a:lnTo>
                <a:lnTo>
                  <a:pt x="56883" y="367690"/>
                </a:lnTo>
                <a:lnTo>
                  <a:pt x="121323" y="380415"/>
                </a:lnTo>
                <a:lnTo>
                  <a:pt x="163195" y="382003"/>
                </a:lnTo>
                <a:lnTo>
                  <a:pt x="224853" y="376097"/>
                </a:lnTo>
                <a:lnTo>
                  <a:pt x="274955" y="359194"/>
                </a:lnTo>
                <a:lnTo>
                  <a:pt x="312254" y="332498"/>
                </a:lnTo>
                <a:lnTo>
                  <a:pt x="318795" y="322580"/>
                </a:lnTo>
                <a:lnTo>
                  <a:pt x="335534" y="297256"/>
                </a:lnTo>
                <a:lnTo>
                  <a:pt x="343560" y="254673"/>
                </a:lnTo>
                <a:lnTo>
                  <a:pt x="338874" y="230797"/>
                </a:lnTo>
                <a:lnTo>
                  <a:pt x="325348" y="210108"/>
                </a:lnTo>
                <a:lnTo>
                  <a:pt x="303771" y="192595"/>
                </a:lnTo>
                <a:lnTo>
                  <a:pt x="206159" y="144310"/>
                </a:lnTo>
                <a:lnTo>
                  <a:pt x="188556" y="136359"/>
                </a:lnTo>
                <a:lnTo>
                  <a:pt x="175006" y="125209"/>
                </a:lnTo>
                <a:lnTo>
                  <a:pt x="166281" y="110883"/>
                </a:lnTo>
                <a:lnTo>
                  <a:pt x="163195" y="93370"/>
                </a:lnTo>
                <a:lnTo>
                  <a:pt x="167627" y="80911"/>
                </a:lnTo>
                <a:lnTo>
                  <a:pt x="179324" y="70027"/>
                </a:lnTo>
                <a:lnTo>
                  <a:pt x="195846" y="62344"/>
                </a:lnTo>
                <a:lnTo>
                  <a:pt x="214795" y="59423"/>
                </a:lnTo>
                <a:lnTo>
                  <a:pt x="232346" y="62471"/>
                </a:lnTo>
                <a:lnTo>
                  <a:pt x="245910" y="71094"/>
                </a:lnTo>
                <a:lnTo>
                  <a:pt x="254660" y="84493"/>
                </a:lnTo>
                <a:lnTo>
                  <a:pt x="257759" y="101866"/>
                </a:lnTo>
                <a:lnTo>
                  <a:pt x="257759" y="110350"/>
                </a:lnTo>
                <a:lnTo>
                  <a:pt x="369366" y="110350"/>
                </a:lnTo>
                <a:lnTo>
                  <a:pt x="369366" y="93370"/>
                </a:lnTo>
                <a:close/>
              </a:path>
              <a:path w="945515" h="382270">
                <a:moveTo>
                  <a:pt x="609968" y="93370"/>
                </a:moveTo>
                <a:lnTo>
                  <a:pt x="599554" y="59423"/>
                </a:lnTo>
                <a:lnTo>
                  <a:pt x="595604" y="46545"/>
                </a:lnTo>
                <a:lnTo>
                  <a:pt x="559498" y="18034"/>
                </a:lnTo>
                <a:lnTo>
                  <a:pt x="512102" y="3848"/>
                </a:lnTo>
                <a:lnTo>
                  <a:pt x="463931" y="0"/>
                </a:lnTo>
                <a:lnTo>
                  <a:pt x="428332" y="1460"/>
                </a:lnTo>
                <a:lnTo>
                  <a:pt x="398386" y="5308"/>
                </a:lnTo>
                <a:lnTo>
                  <a:pt x="373291" y="10744"/>
                </a:lnTo>
                <a:lnTo>
                  <a:pt x="352196" y="16967"/>
                </a:lnTo>
                <a:lnTo>
                  <a:pt x="364807" y="31292"/>
                </a:lnTo>
                <a:lnTo>
                  <a:pt x="375793" y="48806"/>
                </a:lnTo>
                <a:lnTo>
                  <a:pt x="383578" y="69494"/>
                </a:lnTo>
                <a:lnTo>
                  <a:pt x="386524" y="93370"/>
                </a:lnTo>
                <a:lnTo>
                  <a:pt x="386524" y="101866"/>
                </a:lnTo>
                <a:lnTo>
                  <a:pt x="378002" y="110350"/>
                </a:lnTo>
                <a:lnTo>
                  <a:pt x="378002" y="118846"/>
                </a:lnTo>
                <a:lnTo>
                  <a:pt x="283438" y="118846"/>
                </a:lnTo>
                <a:lnTo>
                  <a:pt x="288137" y="142849"/>
                </a:lnTo>
                <a:lnTo>
                  <a:pt x="301713" y="164477"/>
                </a:lnTo>
                <a:lnTo>
                  <a:pt x="323329" y="184505"/>
                </a:lnTo>
                <a:lnTo>
                  <a:pt x="352196" y="203733"/>
                </a:lnTo>
                <a:lnTo>
                  <a:pt x="420966" y="237693"/>
                </a:lnTo>
                <a:lnTo>
                  <a:pt x="433565" y="244322"/>
                </a:lnTo>
                <a:lnTo>
                  <a:pt x="444563" y="252552"/>
                </a:lnTo>
                <a:lnTo>
                  <a:pt x="452335" y="263956"/>
                </a:lnTo>
                <a:lnTo>
                  <a:pt x="455282" y="280136"/>
                </a:lnTo>
                <a:lnTo>
                  <a:pt x="452069" y="297510"/>
                </a:lnTo>
                <a:lnTo>
                  <a:pt x="442417" y="310908"/>
                </a:lnTo>
                <a:lnTo>
                  <a:pt x="426326" y="319532"/>
                </a:lnTo>
                <a:lnTo>
                  <a:pt x="403809" y="322580"/>
                </a:lnTo>
                <a:lnTo>
                  <a:pt x="381215" y="318211"/>
                </a:lnTo>
                <a:lnTo>
                  <a:pt x="365086" y="306666"/>
                </a:lnTo>
                <a:lnTo>
                  <a:pt x="355422" y="290360"/>
                </a:lnTo>
                <a:lnTo>
                  <a:pt x="352196" y="271653"/>
                </a:lnTo>
                <a:lnTo>
                  <a:pt x="352196" y="263156"/>
                </a:lnTo>
                <a:lnTo>
                  <a:pt x="347764" y="288493"/>
                </a:lnTo>
                <a:lnTo>
                  <a:pt x="336080" y="313042"/>
                </a:lnTo>
                <a:lnTo>
                  <a:pt x="319544" y="335991"/>
                </a:lnTo>
                <a:lnTo>
                  <a:pt x="300596" y="356552"/>
                </a:lnTo>
                <a:lnTo>
                  <a:pt x="292074" y="356552"/>
                </a:lnTo>
                <a:lnTo>
                  <a:pt x="283438" y="365036"/>
                </a:lnTo>
                <a:lnTo>
                  <a:pt x="305739" y="371271"/>
                </a:lnTo>
                <a:lnTo>
                  <a:pt x="332867" y="376707"/>
                </a:lnTo>
                <a:lnTo>
                  <a:pt x="363207" y="380542"/>
                </a:lnTo>
                <a:lnTo>
                  <a:pt x="395160" y="382003"/>
                </a:lnTo>
                <a:lnTo>
                  <a:pt x="456819" y="376097"/>
                </a:lnTo>
                <a:lnTo>
                  <a:pt x="506920" y="359194"/>
                </a:lnTo>
                <a:lnTo>
                  <a:pt x="544220" y="332498"/>
                </a:lnTo>
                <a:lnTo>
                  <a:pt x="550760" y="322580"/>
                </a:lnTo>
                <a:lnTo>
                  <a:pt x="567499" y="297256"/>
                </a:lnTo>
                <a:lnTo>
                  <a:pt x="575525" y="254673"/>
                </a:lnTo>
                <a:lnTo>
                  <a:pt x="572173" y="230797"/>
                </a:lnTo>
                <a:lnTo>
                  <a:pt x="561581" y="210108"/>
                </a:lnTo>
                <a:lnTo>
                  <a:pt x="542925" y="192595"/>
                </a:lnTo>
                <a:lnTo>
                  <a:pt x="515404" y="178269"/>
                </a:lnTo>
                <a:lnTo>
                  <a:pt x="446646" y="144310"/>
                </a:lnTo>
                <a:lnTo>
                  <a:pt x="429120" y="136359"/>
                </a:lnTo>
                <a:lnTo>
                  <a:pt x="415594" y="125209"/>
                </a:lnTo>
                <a:lnTo>
                  <a:pt x="406882" y="110883"/>
                </a:lnTo>
                <a:lnTo>
                  <a:pt x="403809" y="93370"/>
                </a:lnTo>
                <a:lnTo>
                  <a:pt x="406882" y="80911"/>
                </a:lnTo>
                <a:lnTo>
                  <a:pt x="415594" y="70027"/>
                </a:lnTo>
                <a:lnTo>
                  <a:pt x="429120" y="62344"/>
                </a:lnTo>
                <a:lnTo>
                  <a:pt x="446646" y="59423"/>
                </a:lnTo>
                <a:lnTo>
                  <a:pt x="469239" y="62471"/>
                </a:lnTo>
                <a:lnTo>
                  <a:pt x="485355" y="71094"/>
                </a:lnTo>
                <a:lnTo>
                  <a:pt x="495020" y="84493"/>
                </a:lnTo>
                <a:lnTo>
                  <a:pt x="498246" y="101866"/>
                </a:lnTo>
                <a:lnTo>
                  <a:pt x="489610" y="110350"/>
                </a:lnTo>
                <a:lnTo>
                  <a:pt x="609968" y="110350"/>
                </a:lnTo>
                <a:lnTo>
                  <a:pt x="609968" y="93370"/>
                </a:lnTo>
                <a:close/>
              </a:path>
              <a:path w="945515" h="382270">
                <a:moveTo>
                  <a:pt x="945019" y="93370"/>
                </a:moveTo>
                <a:lnTo>
                  <a:pt x="937361" y="53708"/>
                </a:lnTo>
                <a:lnTo>
                  <a:pt x="916025" y="24396"/>
                </a:lnTo>
                <a:lnTo>
                  <a:pt x="883399" y="6235"/>
                </a:lnTo>
                <a:lnTo>
                  <a:pt x="841933" y="0"/>
                </a:lnTo>
                <a:lnTo>
                  <a:pt x="802030" y="4775"/>
                </a:lnTo>
                <a:lnTo>
                  <a:pt x="761352" y="19100"/>
                </a:lnTo>
                <a:lnTo>
                  <a:pt x="722287" y="42976"/>
                </a:lnTo>
                <a:lnTo>
                  <a:pt x="687247" y="76403"/>
                </a:lnTo>
                <a:lnTo>
                  <a:pt x="704405" y="8483"/>
                </a:lnTo>
                <a:lnTo>
                  <a:pt x="575525" y="8483"/>
                </a:lnTo>
                <a:lnTo>
                  <a:pt x="575525" y="16967"/>
                </a:lnTo>
                <a:lnTo>
                  <a:pt x="596773" y="31292"/>
                </a:lnTo>
                <a:lnTo>
                  <a:pt x="609917" y="48806"/>
                </a:lnTo>
                <a:lnTo>
                  <a:pt x="616623" y="69494"/>
                </a:lnTo>
                <a:lnTo>
                  <a:pt x="618490" y="93370"/>
                </a:lnTo>
                <a:lnTo>
                  <a:pt x="618490" y="118846"/>
                </a:lnTo>
                <a:lnTo>
                  <a:pt x="549846" y="118846"/>
                </a:lnTo>
                <a:lnTo>
                  <a:pt x="548360" y="131584"/>
                </a:lnTo>
                <a:lnTo>
                  <a:pt x="544449" y="144310"/>
                </a:lnTo>
                <a:lnTo>
                  <a:pt x="538911" y="157048"/>
                </a:lnTo>
                <a:lnTo>
                  <a:pt x="532561" y="169773"/>
                </a:lnTo>
                <a:lnTo>
                  <a:pt x="555155" y="189014"/>
                </a:lnTo>
                <a:lnTo>
                  <a:pt x="571284" y="209042"/>
                </a:lnTo>
                <a:lnTo>
                  <a:pt x="580948" y="230670"/>
                </a:lnTo>
                <a:lnTo>
                  <a:pt x="584161" y="254673"/>
                </a:lnTo>
                <a:lnTo>
                  <a:pt x="580948" y="284911"/>
                </a:lnTo>
                <a:lnTo>
                  <a:pt x="571284" y="311975"/>
                </a:lnTo>
                <a:lnTo>
                  <a:pt x="555155" y="335851"/>
                </a:lnTo>
                <a:lnTo>
                  <a:pt x="532561" y="356552"/>
                </a:lnTo>
                <a:lnTo>
                  <a:pt x="524040" y="365036"/>
                </a:lnTo>
                <a:lnTo>
                  <a:pt x="609968" y="365036"/>
                </a:lnTo>
                <a:lnTo>
                  <a:pt x="661454" y="178269"/>
                </a:lnTo>
                <a:lnTo>
                  <a:pt x="676338" y="140868"/>
                </a:lnTo>
                <a:lnTo>
                  <a:pt x="696874" y="108229"/>
                </a:lnTo>
                <a:lnTo>
                  <a:pt x="725474" y="85153"/>
                </a:lnTo>
                <a:lnTo>
                  <a:pt x="764527" y="76403"/>
                </a:lnTo>
                <a:lnTo>
                  <a:pt x="782129" y="78130"/>
                </a:lnTo>
                <a:lnTo>
                  <a:pt x="795693" y="83832"/>
                </a:lnTo>
                <a:lnTo>
                  <a:pt x="804405" y="94310"/>
                </a:lnTo>
                <a:lnTo>
                  <a:pt x="807491" y="110350"/>
                </a:lnTo>
                <a:lnTo>
                  <a:pt x="807364" y="118186"/>
                </a:lnTo>
                <a:lnTo>
                  <a:pt x="806424" y="128397"/>
                </a:lnTo>
                <a:lnTo>
                  <a:pt x="803897" y="140208"/>
                </a:lnTo>
                <a:lnTo>
                  <a:pt x="798969" y="152806"/>
                </a:lnTo>
                <a:lnTo>
                  <a:pt x="747369" y="322580"/>
                </a:lnTo>
                <a:lnTo>
                  <a:pt x="738733" y="348056"/>
                </a:lnTo>
                <a:lnTo>
                  <a:pt x="738733" y="365036"/>
                </a:lnTo>
                <a:lnTo>
                  <a:pt x="867613" y="365036"/>
                </a:lnTo>
                <a:lnTo>
                  <a:pt x="927735" y="161290"/>
                </a:lnTo>
                <a:lnTo>
                  <a:pt x="936371" y="127330"/>
                </a:lnTo>
                <a:lnTo>
                  <a:pt x="941374" y="119634"/>
                </a:lnTo>
                <a:lnTo>
                  <a:pt x="943940" y="110350"/>
                </a:lnTo>
                <a:lnTo>
                  <a:pt x="944880" y="101066"/>
                </a:lnTo>
                <a:lnTo>
                  <a:pt x="945019" y="9337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793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230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04F4F-3C17-404B-AA4D-08BF21146FAC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934200" y="1274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b="1"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coinf.2024.102362" TargetMode="External"/><Relationship Id="rId2" Type="http://schemas.openxmlformats.org/officeDocument/2006/relationships/hyperlink" Target="https://doi.org/10.1016/j.gecco.2025.e03742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matpr.2021.01.161" TargetMode="External"/><Relationship Id="rId2" Type="http://schemas.openxmlformats.org/officeDocument/2006/relationships/hyperlink" Target="https://doi.org/10.1016/j.ecoinf.2020.101065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32640"/>
            <a:ext cx="9144000" cy="11253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-20638" y="1742668"/>
            <a:ext cx="9057958" cy="2241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7560" marR="5080" indent="-784860" algn="ctr">
              <a:spcBef>
                <a:spcPts val="100"/>
              </a:spcBef>
            </a:pPr>
            <a:r>
              <a:rPr lang="en-US" sz="3600" b="1" dirty="0">
                <a:solidFill>
                  <a:srgbClr val="3352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AND IMPLEMENTATION OF AN  AI BASED TECHNIQUE FOR HUMAN ELEPHANT CONFLICT MITIGATION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7560" marR="5080" indent="-784860" algn="ctr">
              <a:lnSpc>
                <a:spcPct val="100000"/>
              </a:lnSpc>
              <a:spcBef>
                <a:spcPts val="100"/>
              </a:spcBef>
            </a:pP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-20639" y="-9932"/>
            <a:ext cx="9144000" cy="1752600"/>
          </a:xfrm>
          <a:custGeom>
            <a:avLst/>
            <a:gdLst/>
            <a:ahLst/>
            <a:cxnLst/>
            <a:rect l="l" t="t" r="r" b="b"/>
            <a:pathLst>
              <a:path w="9144000" h="1752600">
                <a:moveTo>
                  <a:pt x="9144000" y="0"/>
                </a:moveTo>
                <a:lnTo>
                  <a:pt x="0" y="0"/>
                </a:lnTo>
                <a:lnTo>
                  <a:pt x="0" y="1752600"/>
                </a:lnTo>
                <a:lnTo>
                  <a:pt x="9144000" y="1752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5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9369" y="324357"/>
            <a:ext cx="5938900" cy="58285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UEE2</a:t>
            </a:r>
            <a:r>
              <a:rPr lang="en-IN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spc="-2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pc="-1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pc="-3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spc="-2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pc="-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pc="-5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pc="-5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2764" y="1241805"/>
            <a:ext cx="2957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400" b="1" spc="-9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en-IN" sz="2400" b="1" spc="-1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b="1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- 3</a:t>
            </a:r>
            <a:endParaRPr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256" y="3893127"/>
            <a:ext cx="7918450" cy="2065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</a:t>
            </a:r>
            <a:r>
              <a:rPr sz="2000" b="1" spc="-2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spc="-1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endParaRPr lang="en-IN" sz="2000" b="1" spc="-145" dirty="0">
              <a:solidFill>
                <a:srgbClr val="B11E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05"/>
              </a:spcBef>
            </a:pPr>
            <a:r>
              <a:rPr lang="en-IN" sz="2000" b="1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G.G Jegadheeshwaran</a:t>
            </a:r>
            <a:r>
              <a:rPr lang="en-IN" sz="20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(3122213001040),</a:t>
            </a:r>
            <a:r>
              <a:rPr lang="en-IN" sz="2000" b="1" spc="-145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 err="1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Hamebantei</a:t>
            </a:r>
            <a:r>
              <a:rPr lang="en-IN" sz="2000" b="1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K  </a:t>
            </a:r>
            <a:r>
              <a:rPr lang="en-IN" sz="2000" b="1" dirty="0" err="1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Tangsang</a:t>
            </a:r>
            <a:r>
              <a:rPr lang="en-IN" sz="20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(3122213001304),</a:t>
            </a:r>
            <a:r>
              <a:rPr lang="en-IN" sz="2000" b="1" spc="-145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spcBef>
                <a:spcPts val="105"/>
              </a:spcBef>
            </a:pPr>
            <a:r>
              <a:rPr lang="en-IN" sz="2000" b="1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Arnab </a:t>
            </a:r>
            <a:r>
              <a:rPr lang="en-IN" sz="2000" b="1" dirty="0" err="1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Sheoran</a:t>
            </a:r>
            <a:r>
              <a:rPr lang="en-IN" sz="20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(3122213001801)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IN" sz="2000" b="1" spc="-1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51C75-9B5F-27D0-6893-066803CDE44E}"/>
              </a:ext>
            </a:extLst>
          </p:cNvPr>
          <p:cNvSpPr txBox="1"/>
          <p:nvPr/>
        </p:nvSpPr>
        <p:spPr>
          <a:xfrm>
            <a:off x="7144512" y="3493017"/>
            <a:ext cx="189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algn="ctr">
              <a:lnSpc>
                <a:spcPct val="100000"/>
              </a:lnSpc>
            </a:pPr>
            <a:r>
              <a:rPr lang="en-IN"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r>
              <a:rPr lang="en-IN" sz="2000" b="1" spc="-1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No:</a:t>
            </a:r>
            <a:r>
              <a:rPr lang="en-IN" sz="2000" b="1" spc="-114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spc="-25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A2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7336A-921E-4947-7B33-153C3F971D98}"/>
              </a:ext>
            </a:extLst>
          </p:cNvPr>
          <p:cNvSpPr txBox="1"/>
          <p:nvPr/>
        </p:nvSpPr>
        <p:spPr>
          <a:xfrm>
            <a:off x="163093" y="5616195"/>
            <a:ext cx="7918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Guide (Internal):</a:t>
            </a:r>
            <a:r>
              <a:rPr lang="en-US" sz="1800" b="1" spc="-3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Rajasi Mandal</a:t>
            </a:r>
            <a:r>
              <a:rPr lang="en-US" sz="18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Asst</a:t>
            </a:r>
            <a:r>
              <a:rPr lang="en-US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Prof./EEE, SSNCE</a:t>
            </a:r>
          </a:p>
          <a:p>
            <a:pPr algn="l"/>
            <a:r>
              <a:rPr lang="en-US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Co-Supervisor(Internal)</a:t>
            </a:r>
            <a:r>
              <a:rPr lang="en-US" sz="18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 b="1" spc="-3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 </a:t>
            </a:r>
            <a:r>
              <a:rPr lang="en-US" b="1" spc="-10" dirty="0" err="1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Jayaparvathy</a:t>
            </a:r>
            <a:r>
              <a:rPr lang="en-US" sz="1800" b="1" spc="-10" dirty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/Prof./EEE, SSNCE </a:t>
            </a:r>
          </a:p>
          <a:p>
            <a:pPr algn="l">
              <a:lnSpc>
                <a:spcPct val="100000"/>
              </a:lnSpc>
            </a:pPr>
            <a:endParaRPr lang="en-US" sz="1800" b="1" spc="-10" dirty="0">
              <a:solidFill>
                <a:srgbClr val="B11E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5B58EC-C248-6FEB-4636-7B59BAEB51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0809" y="237731"/>
            <a:ext cx="6191630" cy="727250"/>
          </a:xfrm>
          <a:prstGeom prst="rect">
            <a:avLst/>
          </a:prstGeom>
        </p:spPr>
        <p:txBody>
          <a:bodyPr vert="horz" wrap="square" lIns="0" tIns="232537" rIns="0" bIns="0" rtlCol="0">
            <a:spAutoFit/>
          </a:bodyPr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Objectives of the Project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9F7DB8-882C-72C0-93E3-60447C2FA82D}"/>
              </a:ext>
            </a:extLst>
          </p:cNvPr>
          <p:cNvSpPr txBox="1"/>
          <p:nvPr/>
        </p:nvSpPr>
        <p:spPr>
          <a:xfrm>
            <a:off x="252053" y="1170432"/>
            <a:ext cx="83229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000" dirty="0"/>
              <a:t>To develop an AI-based real-time system that accurately detects elephant using advanced deep learning techniques</a:t>
            </a:r>
            <a:r>
              <a:rPr lang="en-US" sz="2000" dirty="0"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/>
              <a:t>To reduce human–elephant conflict by providing early warning alerts before elephants enter human-populated areas.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/>
              <a:t>To implement an integrated alert mechanism using an alarm buzzer and mobile notifications for immediate response</a:t>
            </a:r>
            <a:r>
              <a:rPr lang="en-US" sz="2000" dirty="0"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 To deploy the detection system on an edge-computing platform to achieve low-latency and offline-capable operation.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 To ensure reliable performance of the system under varying environmental and lighting conditions.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 To design a scalable and cost-effective solution suitable for large-scale deployment in forest-border regions.</a:t>
            </a:r>
            <a:endParaRPr lang="en-IN" sz="20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D9B1C-6FA2-E51B-09C3-D241A279CB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0560" y="-83199"/>
            <a:ext cx="7467599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Problem Formulation &amp; Justification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0C7DA-F961-0453-8605-F27472DEB5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8C2CA-BC44-92E2-5D2D-0A1B732C1707}"/>
              </a:ext>
            </a:extLst>
          </p:cNvPr>
          <p:cNvSpPr txBox="1"/>
          <p:nvPr/>
        </p:nvSpPr>
        <p:spPr>
          <a:xfrm>
            <a:off x="-15240" y="671691"/>
            <a:ext cx="915924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PROBLEM: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Increasing incidents of human–elephant conflict due to habitat loss and human encroachment have resulted in significant threats to human life, agriculture, and wildlife conservation.</a:t>
            </a:r>
          </a:p>
          <a:p>
            <a:pPr marL="342900" indent="-342900" algn="just">
              <a:buAutoNum type="arabicPeriod"/>
            </a:pPr>
            <a:endParaRPr lang="en-US" sz="2000" dirty="0"/>
          </a:p>
          <a:p>
            <a:pPr marL="342900" indent="-342900" algn="just">
              <a:buAutoNum type="arabicPeriod"/>
            </a:pPr>
            <a:r>
              <a:rPr lang="en-US" sz="2000" dirty="0"/>
              <a:t> Existing mitigation methods such as manual patrolling, fencing, and conventional alarm systems are reactive, labor-intensive, and often fail to provide timely warnings.</a:t>
            </a:r>
          </a:p>
          <a:p>
            <a:pPr marL="342900" indent="-342900" algn="just">
              <a:buAutoNum type="arabicPeriod"/>
            </a:pPr>
            <a:endParaRPr lang="en-US" sz="2000" dirty="0"/>
          </a:p>
          <a:p>
            <a:pPr marL="342900" indent="-342900" algn="just">
              <a:buFontTx/>
              <a:buAutoNum type="arabicPeriod"/>
            </a:pPr>
            <a:r>
              <a:rPr lang="en-US" sz="2000" dirty="0"/>
              <a:t> There is a lack of an automated, real-time, and intelligent monitoring system capable of accurately detecting elephants and issuing immediate alerts in forest-border regions.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SOLUTION: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An AI-based elephant detection and alert system enables early warning, thereby reducing casualties, crop damage, and unsafe human–elephant encounters.</a:t>
            </a:r>
          </a:p>
          <a:p>
            <a:pPr marL="342900" indent="-342900" algn="just">
              <a:buAutoNum type="arabicPeriod"/>
            </a:pPr>
            <a:endParaRPr lang="en-US" sz="1800" dirty="0"/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68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8653-BB63-897D-736E-94D5DCFD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73152"/>
            <a:ext cx="7107935" cy="890015"/>
          </a:xfrm>
        </p:spPr>
        <p:txBody>
          <a:bodyPr/>
          <a:lstStyle/>
          <a:p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Problem Formulation &amp; Justification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A8260-C4A6-4FA0-352E-6B1BE3DA9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596" y="1395403"/>
            <a:ext cx="8072120" cy="2554545"/>
          </a:xfrm>
        </p:spPr>
        <p:txBody>
          <a:bodyPr/>
          <a:lstStyle/>
          <a:p>
            <a:pPr algn="just"/>
            <a:r>
              <a:rPr lang="en-US" sz="2000" dirty="0"/>
              <a:t>2.  Deploying the system on an edge-computing platform ensures low latency, real-time operation, and functionality in remote areas with limited internet connectivity.</a:t>
            </a:r>
          </a:p>
          <a:p>
            <a:pPr marL="342900" indent="-342900" algn="just">
              <a:buAutoNum type="arabicPeriod"/>
            </a:pPr>
            <a:endParaRPr lang="en-US" sz="2000" dirty="0"/>
          </a:p>
          <a:p>
            <a:pPr algn="just"/>
            <a:r>
              <a:rPr lang="en-US" sz="2000" dirty="0"/>
              <a:t>3.  The proposed solution is cost-effective, scalable, and supports long-term wildlife conservation while enhancing public safety and forest management efficiency.</a:t>
            </a:r>
            <a:endParaRPr lang="en-IN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389E3-7439-5FFD-700D-57FEA4BF3B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345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199" y="55301"/>
            <a:ext cx="7467599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Block Diagram of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73BAB-62A7-AF79-6A2E-99C6694E1F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554B4-3A39-90C8-811A-33EDE872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63" y="1652587"/>
            <a:ext cx="7467599" cy="4145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127436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38" y="903183"/>
            <a:ext cx="8072120" cy="4001095"/>
          </a:xfrm>
        </p:spPr>
        <p:txBody>
          <a:bodyPr/>
          <a:lstStyle/>
          <a:p>
            <a:r>
              <a:rPr lang="en-IN" sz="2000" dirty="0"/>
              <a:t>What is YOLO?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YOLO (You Only Look Once)</a:t>
            </a:r>
            <a:r>
              <a:rPr lang="en-US" sz="2000" dirty="0"/>
              <a:t> is a real-time object detection algorithm based on deep learning.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Unlike traditional methods that scan an image multiple times, YOLO looks at the image only once and predicts objects and their locations simultaneously.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It divides the image into a grid and detects both the class (what the object is) and the bounding box (where the object is) in one step.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Known for being fast, accurate, and efficient, making it suitable for real-time detection tasks.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12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2607" y="0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471" y="531871"/>
            <a:ext cx="8445826" cy="6647974"/>
          </a:xfrm>
        </p:spPr>
        <p:txBody>
          <a:bodyPr/>
          <a:lstStyle/>
          <a:p>
            <a:r>
              <a:rPr lang="en-US" sz="1800" dirty="0"/>
              <a:t> Why YOLO for Human–Elephant Conflict Mitigation?</a:t>
            </a: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lang="en-US" sz="1800" b="1" dirty="0"/>
              <a:t>Real-Time Detection:</a:t>
            </a:r>
            <a:r>
              <a:rPr lang="en-US" sz="1800" dirty="0"/>
              <a:t> Processes video streams frame-by-frame at high FPS → enables instant elephant identification.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Robust Detection in Complex Environments:</a:t>
            </a:r>
            <a:r>
              <a:rPr lang="en-IN" sz="1800" dirty="0"/>
              <a:t> Handles variations in elephant size, shape, orientation, and environmental noise (trees, shadows, humans, vehicles).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lang="en-IN" sz="1800" b="1" dirty="0"/>
              <a:t>Efficient on Edge Devices:</a:t>
            </a:r>
            <a:r>
              <a:rPr lang="en-IN" sz="1800" dirty="0"/>
              <a:t> Lightweight versions (YOLOv5s, YOLO-Nano, YOLOv8n) can run on Raspberry Pi + Camera Module V2, enabling deployment in remote</a:t>
            </a:r>
            <a:r>
              <a:rPr lang="en-IN" sz="1800" b="1" dirty="0"/>
              <a:t> </a:t>
            </a:r>
            <a:r>
              <a:rPr lang="en-IN" sz="1800" dirty="0"/>
              <a:t>villages without powerful servers.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Unified Detection Approach:</a:t>
            </a:r>
            <a:r>
              <a:rPr lang="en-US" sz="1800" dirty="0"/>
              <a:t> Unlike traditional pipelines (proposal + classification), YOLO performs detection in a single forward pass, reducing latency.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lang="en-US" sz="1800" b="1" dirty="0"/>
              <a:t>Scalability:</a:t>
            </a:r>
            <a:r>
              <a:rPr lang="en-US" sz="1800" dirty="0"/>
              <a:t> Multiple YOLO-powered units can be deployed across different forest entry points at </a:t>
            </a:r>
            <a:r>
              <a:rPr lang="en-US" sz="1800" b="1" dirty="0"/>
              <a:t>low cost</a:t>
            </a:r>
            <a:r>
              <a:rPr lang="en-US" sz="18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lang="en-US" sz="1800" b="1" dirty="0"/>
              <a:t>Seamless Integration with Alert Systems:</a:t>
            </a:r>
            <a:r>
              <a:rPr lang="en-US" sz="1800" dirty="0"/>
              <a:t> Detection outputs (bounding boxes + confidence scores) can be mapped to SMS/email alerts in real time, giving villagers and forest officials an early warning system.</a:t>
            </a: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81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47880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82" y="619879"/>
            <a:ext cx="8391832" cy="559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5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935" y="-221698"/>
            <a:ext cx="642023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9DE2-6A42-A997-A935-FA687CCD0F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2B6FC-ECC7-5DDA-59B8-67B8EE01A9D6}"/>
              </a:ext>
            </a:extLst>
          </p:cNvPr>
          <p:cNvSpPr txBox="1"/>
          <p:nvPr/>
        </p:nvSpPr>
        <p:spPr>
          <a:xfrm>
            <a:off x="97537" y="1097280"/>
            <a:ext cx="8939784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Jetson Nano:</a:t>
            </a:r>
          </a:p>
          <a:p>
            <a:pPr marL="457200" indent="-457200" algn="just">
              <a:buAutoNum type="arabicPeriod"/>
            </a:pPr>
            <a:r>
              <a:rPr lang="en-US" sz="2000" dirty="0"/>
              <a:t>Jetson Nano is a small, powerful AI computer developed by NVIDIA.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It is designed to run artificial intelligence and deep learning models on real-time data.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It works like a mini computer but is optimized for AI tasks such as image and video processing.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FontTx/>
              <a:buAutoNum type="arabicPeriod"/>
            </a:pPr>
            <a:r>
              <a:rPr lang="en-US" sz="2000" dirty="0"/>
              <a:t> Low latency, meaning alerts are generated quickly.</a:t>
            </a:r>
          </a:p>
          <a:p>
            <a:pPr marL="457200" indent="-457200" algn="just">
              <a:buFontTx/>
              <a:buAutoNum type="arabicPeriod"/>
            </a:pPr>
            <a:endParaRPr lang="en-US" sz="2000" dirty="0"/>
          </a:p>
          <a:p>
            <a:pPr marL="457200" indent="-457200" algn="just">
              <a:buFontTx/>
              <a:buAutoNum type="arabicPeriod"/>
            </a:pPr>
            <a:r>
              <a:rPr lang="en-US" sz="2000" dirty="0"/>
              <a:t> Offline capability, so the system works even without internet connectivity.</a:t>
            </a:r>
          </a:p>
          <a:p>
            <a:pPr marL="457200" indent="-457200" algn="just">
              <a:buFontTx/>
              <a:buAutoNum type="arabicPeriod"/>
            </a:pPr>
            <a:endParaRPr lang="en-US" sz="2000" dirty="0"/>
          </a:p>
          <a:p>
            <a:pPr marL="457200" indent="-457200" algn="just">
              <a:buFontTx/>
              <a:buAutoNum type="arabicPeriod"/>
            </a:pPr>
            <a:r>
              <a:rPr lang="en-US" sz="2000" dirty="0"/>
              <a:t> Compact and portable, making it easy to deploy in forest or rural areas.</a:t>
            </a:r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0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CE85-27F0-9E88-8801-F323E03D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8" y="158213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F7D44-0DBE-3F04-C5F5-0FA930811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4031873"/>
          </a:xfrm>
        </p:spPr>
        <p:txBody>
          <a:bodyPr/>
          <a:lstStyle/>
          <a:p>
            <a:r>
              <a:rPr lang="en-US" sz="2000" b="1" dirty="0"/>
              <a:t>Using Jetson Nano in our project:</a:t>
            </a:r>
          </a:p>
          <a:p>
            <a:pPr marL="457200" indent="-457200" algn="just">
              <a:buAutoNum type="arabicPeriod"/>
            </a:pPr>
            <a:r>
              <a:rPr lang="en-US" sz="2000" dirty="0"/>
              <a:t>We use Jetson Nano to run the YOLO AI model for real-time elephant detection.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It allows live video processing directly at the location without sending data to the cloud.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It can control external devices like buzzers and alert systems using GPIO pins.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It supports edge computing, which is important in forest areas with limited internet access. </a:t>
            </a:r>
            <a:endParaRPr lang="en-IN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3AA21-9A03-0C31-98D0-1030216AE6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10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39B3-87AD-6CA4-E89A-5E78AEBE8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337" y="7496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ABAF2-7FF0-619A-50CF-9A48215DE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635" y="671691"/>
            <a:ext cx="8072120" cy="6186309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sz="2000" dirty="0"/>
              <a:t>The proposed system focuses on detecting elephants from  images in real time, enabling effective monitoring during night-time and low-visibility conditions to reduce human–elephant conflict.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A deep learning–based object detection model (YOLO) is employed to analyze  video frames and identify the presence of elephants with high confidence.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The  camera feed is continuously captured and processed, where each frame is resized and passed to the trained YOLO model for simultaneous object classification and localization.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A confidence-based decision logic is implemented to ensure that only high-confidence elephant detections are considered, thereby minimizing false alerts.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Upon successful detection, the system generates visual detection outputs and initiates alert mechanisms for early warning and preventive action. </a:t>
            </a:r>
            <a:endParaRPr lang="en-IN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034E0-047C-1AFB-786F-F6F5E0801F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80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18EF-111F-EBE6-4303-62182F2F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8" y="19713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179E6-49D9-9F4D-5F43-FE1E00E85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682756"/>
            <a:ext cx="8854440" cy="6155531"/>
          </a:xfrm>
        </p:spPr>
        <p:txBody>
          <a:bodyPr/>
          <a:lstStyle/>
          <a:p>
            <a:r>
              <a:rPr lang="en-IN" sz="2000" b="1" dirty="0"/>
              <a:t>Metric Comparison (Model Selection):</a:t>
            </a:r>
          </a:p>
          <a:p>
            <a:r>
              <a:rPr lang="en-IN" sz="2000" b="1" dirty="0"/>
              <a:t>Benchmarking Strategy: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Evaluated three architectures specifically for the NVIDIA Jetson Nano (4GB)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Metric: Throughput (FPS) vs. Precision (</a:t>
            </a:r>
            <a:r>
              <a:rPr lang="en-US" sz="2000" dirty="0" err="1"/>
              <a:t>mAP</a:t>
            </a:r>
            <a:r>
              <a:rPr lang="en-US" sz="2000" dirty="0"/>
              <a:t>) on the "Wild Elephant" dataset.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b="1" dirty="0"/>
              <a:t>Comparative Results: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YOLOv8 Nano (Selected): 98.4% </a:t>
            </a:r>
            <a:r>
              <a:rPr lang="en-US" sz="2000" dirty="0" err="1"/>
              <a:t>mAP</a:t>
            </a:r>
            <a:r>
              <a:rPr lang="en-US" sz="2000" dirty="0"/>
              <a:t> @ 32 FPS. Result: Real-time &amp; Accurate.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YOLOv8 Small: 98.6% </a:t>
            </a:r>
            <a:r>
              <a:rPr lang="en-US" sz="2000" dirty="0" err="1"/>
              <a:t>mAP</a:t>
            </a:r>
            <a:r>
              <a:rPr lang="en-US" sz="2000" dirty="0"/>
              <a:t> @ 14 FPS. Result: Too slow for rapid alert systems.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SSD </a:t>
            </a:r>
            <a:r>
              <a:rPr lang="en-US" sz="2000" dirty="0" err="1"/>
              <a:t>MobileNet</a:t>
            </a:r>
            <a:r>
              <a:rPr lang="en-US" sz="2000" dirty="0"/>
              <a:t> V2: 91.2% </a:t>
            </a:r>
            <a:r>
              <a:rPr lang="en-US" sz="2000" dirty="0" err="1"/>
              <a:t>mAP</a:t>
            </a:r>
            <a:r>
              <a:rPr lang="en-US" sz="2000" dirty="0"/>
              <a:t> @ 45 FPS. Result: High speed but unacceptable false negatives.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r>
              <a:rPr lang="en-US" sz="2000" b="1" dirty="0"/>
              <a:t>Conclusion:</a:t>
            </a:r>
          </a:p>
          <a:p>
            <a:r>
              <a:rPr lang="en-US" sz="2000" dirty="0"/>
              <a:t>	YOLOv8 Nano was the only model to satisfy the dual constraint of &gt;98% Accuracy and &gt;30 FPS (Real-Time), ensuring immediate alerts for fast-moving threats.</a:t>
            </a:r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18EC1-CCE2-BC62-63F6-0C4492C8E0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19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1344-5551-FCDE-27E4-0377E1BD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8" y="47880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9C0DC-1BC9-AB3F-AED1-56456FA46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9" y="705223"/>
            <a:ext cx="8927591" cy="6463308"/>
          </a:xfrm>
        </p:spPr>
        <p:txBody>
          <a:bodyPr/>
          <a:lstStyle/>
          <a:p>
            <a:r>
              <a:rPr lang="en-US" sz="2000" b="1" dirty="0"/>
              <a:t>Quantitative </a:t>
            </a:r>
            <a:r>
              <a:rPr lang="en-US" sz="2000" b="1" dirty="0" err="1"/>
              <a:t>AnalysisTitle</a:t>
            </a:r>
            <a:r>
              <a:rPr lang="en-US" sz="2000" b="1" dirty="0"/>
              <a:t>: Performance on Unseen Wild Data</a:t>
            </a:r>
          </a:p>
          <a:p>
            <a:r>
              <a:rPr lang="en-IN" sz="2000" b="1" dirty="0"/>
              <a:t>Dataset Integrity: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Trained on 40,000+ images from the </a:t>
            </a:r>
            <a:r>
              <a:rPr lang="en-US" sz="2000" dirty="0" err="1"/>
              <a:t>gunarakulangr</a:t>
            </a:r>
            <a:r>
              <a:rPr lang="en-US" sz="2000" dirty="0"/>
              <a:t> Wild Elephant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Split: 80% Training / 20% Validation (strictly separated to prevent data leakage).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mAP@50: 98.2%. (Exceeded project target of 98%).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Recall (Sensitivity): 97.5%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b="1" dirty="0"/>
              <a:t>Significance: </a:t>
            </a:r>
            <a:r>
              <a:rPr lang="en-US" sz="2000" dirty="0"/>
              <a:t>The model successfully detects 97.5% of elephants even in complex forest backgrounds.</a:t>
            </a:r>
          </a:p>
          <a:p>
            <a:r>
              <a:rPr lang="en-US" sz="2000" b="1" dirty="0"/>
              <a:t>Inference Latency: </a:t>
            </a:r>
            <a:r>
              <a:rPr lang="en-US" sz="2000" dirty="0"/>
              <a:t>35ms per frame (on Jetson Nano with </a:t>
            </a:r>
            <a:r>
              <a:rPr lang="en-US" sz="2000" dirty="0" err="1"/>
              <a:t>TensorRT</a:t>
            </a:r>
            <a:r>
              <a:rPr lang="en-US" sz="2000" dirty="0"/>
              <a:t> FP16).</a:t>
            </a:r>
          </a:p>
          <a:p>
            <a:endParaRPr lang="en-US" sz="2000" dirty="0"/>
          </a:p>
          <a:p>
            <a:r>
              <a:rPr lang="en-IN" sz="2000" b="1" dirty="0"/>
              <a:t>Error Analysis: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False Positives: Reduced to &lt;2% by optimizing the "Confidence Threshold" to 0.60.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Occlusion Handling: Successfully detects elephants even when 40% of the body is hidden behind trees or foliage.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B0B81-1921-7603-879C-AB352A4954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825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C556-ADFF-9AB3-D37A-ED480232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8" y="9874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F54C-9507-ECA7-D5C8-5A9122821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38" y="756994"/>
            <a:ext cx="8072120" cy="5847755"/>
          </a:xfrm>
        </p:spPr>
        <p:txBody>
          <a:bodyPr/>
          <a:lstStyle/>
          <a:p>
            <a:r>
              <a:rPr lang="en-IN" sz="2000" dirty="0"/>
              <a:t> </a:t>
            </a:r>
            <a:r>
              <a:rPr lang="en-IN" sz="2000" b="1" dirty="0"/>
              <a:t>How We Increased Accuracy:</a:t>
            </a:r>
          </a:p>
          <a:p>
            <a:endParaRPr lang="en-IN" sz="2000" b="1" dirty="0"/>
          </a:p>
          <a:p>
            <a:r>
              <a:rPr lang="en-IN" sz="2000" b="1" dirty="0"/>
              <a:t> Optimization &amp; Feature Engineering:</a:t>
            </a:r>
          </a:p>
          <a:p>
            <a:endParaRPr lang="en-IN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 Robust Data Augmentation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 Problem: </a:t>
            </a:r>
            <a:r>
              <a:rPr lang="en-US" sz="2000" dirty="0"/>
              <a:t>Limited dataset size often leads to overfitting (memorizing images).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Solution: </a:t>
            </a:r>
            <a:r>
              <a:rPr lang="en-US" sz="2000" dirty="0"/>
              <a:t>Implemented Mosaic Augmentation (stitching 4 images together) and Random Rotation (+/- 10°). This forced the model to learn "generalized" elephant features (trunk curvature, ear shape) rather than memorizing specific forest backgrounds.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r>
              <a:rPr lang="en-IN" sz="2000" b="1" dirty="0"/>
              <a:t>Transfer Learning Strategy: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Method: </a:t>
            </a:r>
            <a:r>
              <a:rPr lang="en-US" sz="2000" dirty="0"/>
              <a:t>Utilized pre-trained weights from the COCO dataset but froze the initial "backbone" layers.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Impact: </a:t>
            </a:r>
            <a:r>
              <a:rPr lang="en-US" sz="2000" dirty="0"/>
              <a:t>Allowed the model to retain basic edge-detection capabilities while focusing 100% of the learning capacity on elephant-specific textures.</a:t>
            </a:r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FFF18-552A-D30B-DDFE-9691DA0D21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10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2C73-314C-C654-1218-003CFA5B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7E090-1E66-42B8-71B6-0FD48A820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2769989"/>
          </a:xfrm>
        </p:spPr>
        <p:txBody>
          <a:bodyPr/>
          <a:lstStyle/>
          <a:p>
            <a:r>
              <a:rPr lang="en-US" sz="2000" b="1" dirty="0"/>
              <a:t>Hyperparameter Tuning for "Wild" Context:</a:t>
            </a:r>
          </a:p>
          <a:p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Adjustment: </a:t>
            </a:r>
            <a:r>
              <a:rPr lang="en-US" sz="2000" dirty="0"/>
              <a:t>Tuned the </a:t>
            </a:r>
            <a:r>
              <a:rPr lang="en-US" sz="2000" dirty="0" err="1"/>
              <a:t>IoU</a:t>
            </a:r>
            <a:r>
              <a:rPr lang="en-US" sz="2000" dirty="0"/>
              <a:t> (Intersection over Union) threshold to 0.7.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Result: </a:t>
            </a:r>
            <a:r>
              <a:rPr lang="en-US" sz="2000" dirty="0"/>
              <a:t>The model ignores "loose" bounding boxes and only confirms a detection when the fit is tight, drastically reducing false alarms from large rocks or bushes.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3A6E8-1C34-821A-4C27-FDC08014E2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15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D458-8422-F65A-F4E4-8E06FBFC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8" y="127436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D6298-7961-D393-364D-BB8EA889B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755904"/>
            <a:ext cx="8927592" cy="6155531"/>
          </a:xfrm>
        </p:spPr>
        <p:txBody>
          <a:bodyPr/>
          <a:lstStyle/>
          <a:p>
            <a:endParaRPr lang="en-IN" sz="2000" dirty="0"/>
          </a:p>
          <a:p>
            <a:r>
              <a:rPr lang="en-IN" sz="2000" dirty="0"/>
              <a:t> </a:t>
            </a:r>
            <a:r>
              <a:rPr lang="en-IN" sz="2000" b="1" dirty="0"/>
              <a:t>Uniqueness &amp; Project Perspective:</a:t>
            </a:r>
          </a:p>
          <a:p>
            <a:endParaRPr lang="en-IN" sz="2000" b="1" dirty="0"/>
          </a:p>
          <a:p>
            <a:r>
              <a:rPr lang="en-IN" sz="2000" b="1" dirty="0"/>
              <a:t> Competitive Advantage &amp; Novelty:</a:t>
            </a:r>
          </a:p>
          <a:p>
            <a:endParaRPr lang="en-IN" sz="2000" b="1" dirty="0"/>
          </a:p>
          <a:p>
            <a:r>
              <a:rPr lang="en-IN" sz="2000" b="1" dirty="0"/>
              <a:t>1.</a:t>
            </a:r>
            <a:r>
              <a:rPr lang="en-US" sz="2000" b="1" dirty="0"/>
              <a:t> "Wild" vs. "Captive" Generalization: </a:t>
            </a:r>
            <a:r>
              <a:rPr lang="en-US" sz="2000" dirty="0"/>
              <a:t>The Gap: Most existing research uses "Zoo" datasets where elephants are on clear grass or concrete.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/>
              <a:t>2. </a:t>
            </a:r>
            <a:r>
              <a:rPr lang="en-US" sz="2000" b="1" dirty="0"/>
              <a:t>Our Uniqueness: </a:t>
            </a:r>
            <a:r>
              <a:rPr lang="en-US" sz="2000" dirty="0"/>
              <a:t>Our model is specifically fine-tuned on Wild environments (dense forests, scrublands). It solves the "Camouflage Problem" where elephants blend into the trees—something standard models fail at.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r>
              <a:rPr lang="en-US" sz="2000" b="1" dirty="0"/>
              <a:t>Extreme Edge Optimization (The "Tiny" Giant):</a:t>
            </a:r>
          </a:p>
          <a:p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Perspective: </a:t>
            </a:r>
            <a:r>
              <a:rPr lang="en-US" sz="2000" dirty="0"/>
              <a:t>We proved that high-accuracy wildlife protection doesn't require expensive servers.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E1464-238C-0920-4F1A-D86B993664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46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AC90-C2D2-2A65-4AF5-879C8CD4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77B9-DF26-A7EC-6702-19565800C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3385542"/>
          </a:xfrm>
        </p:spPr>
        <p:txBody>
          <a:bodyPr/>
          <a:lstStyle/>
          <a:p>
            <a:r>
              <a:rPr lang="en-US" sz="2000" dirty="0"/>
              <a:t> 2.</a:t>
            </a:r>
            <a:r>
              <a:rPr lang="en-US" sz="2000" b="1" dirty="0"/>
              <a:t>Achievement: </a:t>
            </a:r>
            <a:r>
              <a:rPr lang="en-US" sz="2000" dirty="0"/>
              <a:t>We successfully compressed the model to &lt;10MB using </a:t>
            </a:r>
            <a:r>
              <a:rPr lang="en-US" sz="2000" dirty="0" err="1"/>
              <a:t>TensorRT</a:t>
            </a:r>
            <a:r>
              <a:rPr lang="en-US" sz="2000" dirty="0"/>
              <a:t> FP16 quantization, making it deployable on battery-powered, solar-run devices in remote forest borders.</a:t>
            </a:r>
          </a:p>
          <a:p>
            <a:endParaRPr lang="en-US" sz="2000" dirty="0"/>
          </a:p>
          <a:p>
            <a:r>
              <a:rPr lang="en-IN" sz="2000" b="1" dirty="0"/>
              <a:t>Zero-Dependency Alerting:</a:t>
            </a:r>
            <a:br>
              <a:rPr lang="en-IN" sz="2000" b="1" dirty="0"/>
            </a:br>
            <a:endParaRPr lang="en-IN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Feature: </a:t>
            </a:r>
            <a:r>
              <a:rPr lang="en-US" sz="2000" dirty="0"/>
              <a:t>Unlike cloud-based solutions that require 4G/5G (often unavailable in forests), our system processes everything locally on the device. The alert is generated in milliseconds without internet connectivity.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1BC65-08F8-376F-94FF-47E6364A9B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53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0C1C-AE35-C327-E5DC-C27A29CF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025" y="127436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26738-D1B9-98BA-4B77-3E2A39F225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E6E6B-BA29-6F18-6B66-D5DB406A59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2"/>
          <a:stretch/>
        </p:blipFill>
        <p:spPr>
          <a:xfrm>
            <a:off x="426720" y="901174"/>
            <a:ext cx="8290560" cy="53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96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5F1B1-54B1-3BCC-86A0-1DA95397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9" y="127436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F02CD-1250-D765-952B-6A1095AB65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133C1F-663C-1823-4394-CAD815F06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6" y="828372"/>
            <a:ext cx="8388096" cy="520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25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67C3-830B-C9CA-4444-92D2A068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9" y="1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FFE8A-F4DD-C3BF-B3F1-68BCDCD589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326C1-9EE3-FF88-CB52-583599A3A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56" y="786930"/>
            <a:ext cx="8168639" cy="541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86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4339-0230-B3E3-24FB-045B1943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8" y="0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6E800-7A02-60AB-979B-D540496AA4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A5DFADD-2F5B-0A95-CB1C-B69EDCAA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02" y="720941"/>
            <a:ext cx="8433996" cy="541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16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7085" y="55301"/>
            <a:ext cx="642023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7524E-A499-91E2-CFCD-710491EA11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82A793-2B70-6C90-B503-95869CBD5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167340"/>
              </p:ext>
            </p:extLst>
          </p:nvPr>
        </p:nvGraphicFramePr>
        <p:xfrm>
          <a:off x="0" y="1189736"/>
          <a:ext cx="9144000" cy="4857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514">
                  <a:extLst>
                    <a:ext uri="{9D8B030D-6E8A-4147-A177-3AD203B41FA5}">
                      <a16:colId xmlns:a16="http://schemas.microsoft.com/office/drawing/2014/main" val="927887713"/>
                    </a:ext>
                  </a:extLst>
                </a:gridCol>
                <a:gridCol w="1757976">
                  <a:extLst>
                    <a:ext uri="{9D8B030D-6E8A-4147-A177-3AD203B41FA5}">
                      <a16:colId xmlns:a16="http://schemas.microsoft.com/office/drawing/2014/main" val="2218259932"/>
                    </a:ext>
                  </a:extLst>
                </a:gridCol>
                <a:gridCol w="1833858">
                  <a:extLst>
                    <a:ext uri="{9D8B030D-6E8A-4147-A177-3AD203B41FA5}">
                      <a16:colId xmlns:a16="http://schemas.microsoft.com/office/drawing/2014/main" val="3038161082"/>
                    </a:ext>
                  </a:extLst>
                </a:gridCol>
                <a:gridCol w="1751652">
                  <a:extLst>
                    <a:ext uri="{9D8B030D-6E8A-4147-A177-3AD203B41FA5}">
                      <a16:colId xmlns:a16="http://schemas.microsoft.com/office/drawing/2014/main" val="5005494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0369216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54822926"/>
                    </a:ext>
                  </a:extLst>
                </a:gridCol>
              </a:tblGrid>
              <a:tr h="119989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S.N0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Author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260021"/>
                  </a:ext>
                </a:extLst>
              </a:tr>
              <a:tr h="2526284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Moorthy &amp; Rukkumani</a:t>
                      </a:r>
                    </a:p>
                    <a:p>
                      <a:pPr algn="ctr"/>
                      <a:r>
                        <a:rPr lang="en-US" dirty="0"/>
                        <a:t>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Published in </a:t>
                      </a:r>
                      <a:r>
                        <a:rPr lang="en-US" i="1" dirty="0"/>
                        <a:t>Materials Today: Proceedings</a:t>
                      </a:r>
                      <a:r>
                        <a:rPr lang="en-US" dirty="0"/>
                        <a:t>, Elsevier, 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Deep vision-based wildlife intrusion detection with </a:t>
                      </a:r>
                      <a:r>
                        <a:rPr lang="en-US" dirty="0" err="1"/>
                        <a:t>colour</a:t>
                      </a:r>
                      <a:r>
                        <a:rPr lang="en-US" dirty="0"/>
                        <a:t> distribution preserved generative adversarial networks (DV-WID-CDPGAN)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paper introduced Color Distribution Preserved GANs with Red Panda Optimization, achieving 99% accuracy in real-time elephant detection.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marks a shift from traditional sensor-based methods to AI-driven solutions, enhancing accuracy, speed, and reliability for HEC mitigation.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80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55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A69C-C1DE-4E6E-8C16-44DB092E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576" y="19713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B362C-EFB6-9A14-CF58-B3F7EF292F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23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A94FDC-930B-4B11-61D9-3BC0FFA51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291093"/>
              </p:ext>
            </p:extLst>
          </p:nvPr>
        </p:nvGraphicFramePr>
        <p:xfrm>
          <a:off x="76200" y="830441"/>
          <a:ext cx="8961120" cy="539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71125586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33380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775874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1713436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4679344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413784"/>
                    </a:ext>
                  </a:extLst>
                </a:gridCol>
              </a:tblGrid>
              <a:tr h="91049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S.N0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961"/>
                  </a:ext>
                </a:extLst>
              </a:tr>
              <a:tr h="4226589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Haixia Xu, </a:t>
                      </a:r>
                      <a:r>
                        <a:rPr lang="en-IN" dirty="0" err="1"/>
                        <a:t>Luguang</a:t>
                      </a:r>
                      <a:r>
                        <a:rPr lang="en-IN" dirty="0"/>
                        <a:t> Jiang, Ye Liu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Ecological Informatics</a:t>
                      </a:r>
                      <a:r>
                        <a:rPr lang="en-IN" dirty="0"/>
                        <a:t>, Volume 80, 2024, Article 102518, Elsevier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Mapping the potential distribution of Asian elephants: Implications for conservation and human–elephant conflict mitigation in South and Southeast Asia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study applied </a:t>
                      </a:r>
                      <a:r>
                        <a:rPr lang="en-US" dirty="0" err="1"/>
                        <a:t>MaxEnt</a:t>
                      </a:r>
                      <a:r>
                        <a:rPr lang="en-US" dirty="0"/>
                        <a:t> with Google Earth Engine to map Asian elephant habitats and identify key environmental factors influencing distribution.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highlights major HEC hotspots by overlapping elephant habitats with human populations, offering a strong foundation for conservation and conflict mitigation planning.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832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309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6703-E161-74B8-3684-EAD843D40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019" y="11715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45F7C-4620-1F6B-2D06-3F4404EB93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24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6AFD7B-C56C-1B54-FBAC-EC9FA65F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6889"/>
              </p:ext>
            </p:extLst>
          </p:nvPr>
        </p:nvGraphicFramePr>
        <p:xfrm>
          <a:off x="96012" y="853440"/>
          <a:ext cx="895197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996">
                  <a:extLst>
                    <a:ext uri="{9D8B030D-6E8A-4147-A177-3AD203B41FA5}">
                      <a16:colId xmlns:a16="http://schemas.microsoft.com/office/drawing/2014/main" val="2078786209"/>
                    </a:ext>
                  </a:extLst>
                </a:gridCol>
                <a:gridCol w="1491996">
                  <a:extLst>
                    <a:ext uri="{9D8B030D-6E8A-4147-A177-3AD203B41FA5}">
                      <a16:colId xmlns:a16="http://schemas.microsoft.com/office/drawing/2014/main" val="3306443289"/>
                    </a:ext>
                  </a:extLst>
                </a:gridCol>
                <a:gridCol w="1491996">
                  <a:extLst>
                    <a:ext uri="{9D8B030D-6E8A-4147-A177-3AD203B41FA5}">
                      <a16:colId xmlns:a16="http://schemas.microsoft.com/office/drawing/2014/main" val="658560988"/>
                    </a:ext>
                  </a:extLst>
                </a:gridCol>
                <a:gridCol w="1491996">
                  <a:extLst>
                    <a:ext uri="{9D8B030D-6E8A-4147-A177-3AD203B41FA5}">
                      <a16:colId xmlns:a16="http://schemas.microsoft.com/office/drawing/2014/main" val="3715664017"/>
                    </a:ext>
                  </a:extLst>
                </a:gridCol>
                <a:gridCol w="1491996">
                  <a:extLst>
                    <a:ext uri="{9D8B030D-6E8A-4147-A177-3AD203B41FA5}">
                      <a16:colId xmlns:a16="http://schemas.microsoft.com/office/drawing/2014/main" val="39778057"/>
                    </a:ext>
                  </a:extLst>
                </a:gridCol>
                <a:gridCol w="1491996">
                  <a:extLst>
                    <a:ext uri="{9D8B030D-6E8A-4147-A177-3AD203B41FA5}">
                      <a16:colId xmlns:a16="http://schemas.microsoft.com/office/drawing/2014/main" val="3193375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S.N0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87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R. Dutta,</a:t>
                      </a:r>
                    </a:p>
                    <a:p>
                      <a:r>
                        <a:rPr lang="en-IN" dirty="0"/>
                        <a:t> A. </a:t>
                      </a:r>
                      <a:r>
                        <a:rPr lang="en-IN" dirty="0" err="1"/>
                        <a:t>Mondal</a:t>
                      </a:r>
                      <a:r>
                        <a:rPr lang="en-IN" dirty="0"/>
                        <a:t>, </a:t>
                      </a:r>
                    </a:p>
                    <a:p>
                      <a:r>
                        <a:rPr lang="en-IN" dirty="0"/>
                        <a:t>B. Banerjee, A. Ghosh,</a:t>
                      </a:r>
                    </a:p>
                    <a:p>
                      <a:r>
                        <a:rPr lang="en-IN" dirty="0"/>
                        <a:t> B. R. Kiran, C. </a:t>
                      </a:r>
                      <a:r>
                        <a:rPr lang="en-IN" dirty="0" err="1"/>
                        <a:t>Anand</a:t>
                      </a:r>
                      <a:r>
                        <a:rPr lang="en-IN" dirty="0"/>
                        <a:t>,</a:t>
                      </a:r>
                    </a:p>
                    <a:p>
                      <a:r>
                        <a:rPr lang="en-IN" dirty="0"/>
                        <a:t> K. S. </a:t>
                      </a:r>
                      <a:r>
                        <a:rPr lang="en-IN" dirty="0" err="1"/>
                        <a:t>Anoop</a:t>
                      </a:r>
                      <a:r>
                        <a:rPr lang="en-IN" dirty="0"/>
                        <a:t> Das,</a:t>
                      </a:r>
                    </a:p>
                    <a:p>
                      <a:r>
                        <a:rPr lang="en-IN" dirty="0"/>
                        <a:t> K. </a:t>
                      </a:r>
                      <a:r>
                        <a:rPr lang="en-IN" dirty="0" err="1"/>
                        <a:t>S.Anoop</a:t>
                      </a:r>
                      <a:r>
                        <a:rPr lang="en-IN" dirty="0"/>
                        <a:t>,      A. M. </a:t>
                      </a:r>
                      <a:r>
                        <a:rPr lang="en-IN" dirty="0" err="1"/>
                        <a:t>Azeez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Published in </a:t>
                      </a:r>
                      <a:r>
                        <a:rPr lang="en-US" i="1" dirty="0"/>
                        <a:t>Current Science</a:t>
                      </a:r>
                      <a:r>
                        <a:rPr lang="en-US" dirty="0"/>
                        <a:t>, Volume 120, Issue 11, June 2021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Elephant detection system using wireless sensor networks for mitigating human–elephant conflict in Kerala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Developed a </a:t>
                      </a:r>
                      <a:r>
                        <a:rPr lang="en-US" b="0" dirty="0"/>
                        <a:t>wireless sensor network-based system </a:t>
                      </a:r>
                      <a:r>
                        <a:rPr lang="en-US" dirty="0"/>
                        <a:t>integrating PIR sensors, seismic sensors, and acoustic sensors to detect elephant presence near human settlements.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paper shows the effectiveness of </a:t>
                      </a:r>
                      <a:r>
                        <a:rPr lang="en-US" b="0" dirty="0"/>
                        <a:t>multi-sensor fusion</a:t>
                      </a:r>
                      <a:r>
                        <a:rPr lang="en-US" dirty="0"/>
                        <a:t> for elephant detection, but its limitations in scalability and accuracy underline the need for AI-driven real-time systems like your project.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430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751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5938-F4A0-DF94-3DCB-B19A1E2B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339" y="69683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0F235-D5D2-00A7-F815-E0AA1D60AD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C06127-3204-4CA5-9FBB-68822D553AAB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6660389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455804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589237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521682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67839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30309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225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247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694E28-D359-9B0E-952F-51C49D693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995005"/>
              </p:ext>
            </p:extLst>
          </p:nvPr>
        </p:nvGraphicFramePr>
        <p:xfrm>
          <a:off x="0" y="640080"/>
          <a:ext cx="9143999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549">
                  <a:extLst>
                    <a:ext uri="{9D8B030D-6E8A-4147-A177-3AD203B41FA5}">
                      <a16:colId xmlns:a16="http://schemas.microsoft.com/office/drawing/2014/main" val="7241853"/>
                    </a:ext>
                  </a:extLst>
                </a:gridCol>
                <a:gridCol w="1788368">
                  <a:extLst>
                    <a:ext uri="{9D8B030D-6E8A-4147-A177-3AD203B41FA5}">
                      <a16:colId xmlns:a16="http://schemas.microsoft.com/office/drawing/2014/main" val="3303853051"/>
                    </a:ext>
                  </a:extLst>
                </a:gridCol>
                <a:gridCol w="1713475">
                  <a:extLst>
                    <a:ext uri="{9D8B030D-6E8A-4147-A177-3AD203B41FA5}">
                      <a16:colId xmlns:a16="http://schemas.microsoft.com/office/drawing/2014/main" val="1453196341"/>
                    </a:ext>
                  </a:extLst>
                </a:gridCol>
                <a:gridCol w="1707750">
                  <a:extLst>
                    <a:ext uri="{9D8B030D-6E8A-4147-A177-3AD203B41FA5}">
                      <a16:colId xmlns:a16="http://schemas.microsoft.com/office/drawing/2014/main" val="2859891158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144871408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4649104"/>
                    </a:ext>
                  </a:extLst>
                </a:gridCol>
              </a:tblGrid>
              <a:tr h="550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S.N0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701668"/>
                  </a:ext>
                </a:extLst>
              </a:tr>
              <a:tr h="47984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M. </a:t>
                      </a:r>
                      <a:r>
                        <a:rPr lang="en-IN" dirty="0" err="1"/>
                        <a:t>Moorthy</a:t>
                      </a:r>
                      <a:r>
                        <a:rPr lang="en-IN" dirty="0"/>
                        <a:t>, V.</a:t>
                      </a:r>
                    </a:p>
                    <a:p>
                      <a:pPr algn="ctr"/>
                      <a:r>
                        <a:rPr lang="en-IN" dirty="0" err="1"/>
                        <a:t>Rukkumani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Published in </a:t>
                      </a:r>
                      <a:r>
                        <a:rPr lang="en-US" i="1" dirty="0"/>
                        <a:t>Materials Today: Proceedings</a:t>
                      </a:r>
                      <a:r>
                        <a:rPr lang="en-US" dirty="0"/>
                        <a:t>, Elsevier,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/>
                        <a:t>Human-elephant conflict in </a:t>
                      </a:r>
                      <a:r>
                        <a:rPr lang="en-US" sz="1800" b="0" dirty="0" err="1"/>
                        <a:t>Xishuangbanna</a:t>
                      </a:r>
                      <a:r>
                        <a:rPr lang="en-US" sz="1800" b="0" dirty="0"/>
                        <a:t> Prefecture, China: Distribution, diffusion, and mitigation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study applied ENFA and Circuit Theory models to identify risk factors and predict elephant movement in </a:t>
                      </a:r>
                      <a:r>
                        <a:rPr lang="en-US" dirty="0" err="1"/>
                        <a:t>Xishuangbanna</a:t>
                      </a:r>
                      <a:r>
                        <a:rPr lang="en-US" dirty="0"/>
                        <a:t>. It mapped that 22.77% of the area is at high risk of HEC, especially in agricultural and garden lands near elephant zones.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research emphasizes the urgent need for HEC management to protect both elephants and local communities. It provides a scientific basis for ecological corridor planning and compensation strategies in high-risk areas.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01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681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885" y="-221698"/>
            <a:ext cx="642023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 / Work Flow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5773A-72CB-569F-8F45-BAA93BDB9E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407" y="476570"/>
            <a:ext cx="4872879" cy="638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17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381999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Approaches Planned to Execute the Project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2D02A-112D-F70A-3C24-64674DCFC6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E59A5-9D4E-FDA2-07EF-585E0C737366}"/>
              </a:ext>
            </a:extLst>
          </p:cNvPr>
          <p:cNvSpPr txBox="1"/>
          <p:nvPr/>
        </p:nvSpPr>
        <p:spPr>
          <a:xfrm>
            <a:off x="304800" y="1194816"/>
            <a:ext cx="832290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000" dirty="0"/>
              <a:t>A data-driven AI approach is planned by collecting, annotating, and training elephant images for accurate real-time detection. </a:t>
            </a:r>
          </a:p>
          <a:p>
            <a:pPr marL="342900" indent="-342900" algn="just">
              <a:buAutoNum type="arabicPeriod"/>
            </a:pPr>
            <a:endParaRPr lang="en-US" sz="2000" dirty="0"/>
          </a:p>
          <a:p>
            <a:pPr algn="just"/>
            <a:r>
              <a:rPr lang="en-US" sz="2000" dirty="0"/>
              <a:t>2. An edge-computing approach is adopted by deploying the trained AI model on Jetson Nano to achieve low-latency and offline operation.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3. A computer vision–based monitoring approach is implemented using continuous live video capture and frame-by-frame analysis.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4. A multi-alert response approach is designed using a buzzer and mobile notification system for immediate warning generation.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5. An iterative testing and optimization approach is followed to improve detection accuracy and reduce false alarms under real-world conditions.</a:t>
            </a:r>
            <a:endParaRPr lang="en-IN" sz="2000" dirty="0"/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71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1266-4168-1CA8-29E2-A353E597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80E27A-BCB3-C8F9-4D11-F29A8FF066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746760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Work completed in Phase 1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77E95-94AF-252F-EF5B-A02AF3292E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4E67EF-C20E-22B4-16F1-1E97944D8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89" y="1079131"/>
            <a:ext cx="881911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Problem Analysis and Planning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Studied the Human–Elephant Conflict issue and designed an AI-based system to provide early warning and reduce crop damage and human casualties.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Data Collection and Preparation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Collected elephant images and videos, extracted frames from videos, and labeled them to create a proper dataset for training the detection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AI Model Implementation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Implemented the YOLOv8 model with OpenCV for real-time elephant detection from live camera feed and tested detection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Development of Alert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Integrated Twilio API to automatically send SMS alerts and make voice calls when an elephant is detected, ensuring quick notification.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System Testing and 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Connected a live webcam, performed continuous frame-by-frame detection, verified bounding box outputs, and confirmed successful alert triggering.</a:t>
            </a:r>
          </a:p>
        </p:txBody>
      </p:sp>
    </p:spTree>
    <p:extLst>
      <p:ext uri="{BB962C8B-B14F-4D97-AF65-F5344CB8AC3E}">
        <p14:creationId xmlns:p14="http://schemas.microsoft.com/office/powerpoint/2010/main" val="1527609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5301"/>
            <a:ext cx="746760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Work completed in Phase 2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9BE-09C9-7E40-8B47-69FA3C43D8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D6472A-242D-4CD6-2D02-2DC4A78B1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5" y="1024916"/>
            <a:ext cx="879070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1.Deployment on Jetson Nano (Edge Computing)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deployed the YOLOv8 elephant detection model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Jetson Nano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real-time, low-latency, and offline operation.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2.Model Optimization and Accuracy Improvement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 and optimized the YOLO model using data augmentation, confidence threshold tuning, and ONNX/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optimization to achieve high accuracy (~98%) and reduced false detections.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3.Live Real-Time Video 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continuous live video capture and frame-by-frame detection using OpenCV on Jetson Nano for stable real-time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4.Alarm/Buzzer Integration (New Addition)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and interfaced an alarm buzzer module with the detection system.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buzzer automatically activates when an elephant is detected for immediate on-site warning.</a:t>
            </a:r>
          </a:p>
        </p:txBody>
      </p:sp>
    </p:spTree>
    <p:extLst>
      <p:ext uri="{BB962C8B-B14F-4D97-AF65-F5344CB8AC3E}">
        <p14:creationId xmlns:p14="http://schemas.microsoft.com/office/powerpoint/2010/main" val="420526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5AE6-5F38-0B72-F1DB-3C795655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69" y="158213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Work completed in Phase 2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C8BF6-6736-2258-5BDA-20887FA61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967" y="1136381"/>
            <a:ext cx="8072120" cy="3724096"/>
          </a:xfrm>
        </p:spPr>
        <p:txBody>
          <a:bodyPr/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5.Interface Development (New Addition)</a:t>
            </a:r>
            <a:r>
              <a:rPr lang="en-US" altLang="en-US" sz="2000" dirty="0">
                <a:latin typeface="Arial" panose="020B0604020202020204" pitchFamily="34" charset="0"/>
              </a:rPr>
              <a:t/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Created a user interface to display live detection results, system status, and alert notifications for better monitoring and usability.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6.Multi-Alert System Validation</a:t>
            </a:r>
            <a:r>
              <a:rPr lang="en-US" altLang="en-US" sz="2000" dirty="0">
                <a:latin typeface="Arial" panose="020B0604020202020204" pitchFamily="34" charset="0"/>
              </a:rPr>
              <a:t/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Verified complete detection → confirmation → alert pipeline including buzzer activation and mobile notifications.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7.System Testing and Performance Analysis</a:t>
            </a:r>
            <a:r>
              <a:rPr lang="en-US" altLang="en-US" sz="2000" dirty="0">
                <a:latin typeface="Arial" panose="020B0604020202020204" pitchFamily="34" charset="0"/>
              </a:rPr>
              <a:t/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Conducted real-time testing under different lighting and environmental conditions to ensure stable performance and reliable alert triggering.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A4A77-CEF2-86E4-3B87-A22C2DF7A2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66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74B7-0F3D-D1C6-AABF-89D5F681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208A4C-F05E-8567-ED3B-C04481F59A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746760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Improvements</a:t>
            </a:r>
            <a:endParaRPr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01ECC-0C0C-9BB1-25E6-565D5EB40DFF}"/>
              </a:ext>
            </a:extLst>
          </p:cNvPr>
          <p:cNvSpPr txBox="1"/>
          <p:nvPr/>
        </p:nvSpPr>
        <p:spPr>
          <a:xfrm>
            <a:off x="293795" y="1389888"/>
            <a:ext cx="83229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000" dirty="0"/>
              <a:t>YOLO model optimized using ONNX, achieving 98% detection accuracy in real-time inference.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High confidence threshold reduces false detections and improves accuracy.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Fixed frame resizing enhances detection stability and processing speed.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Single-event alert logic avoids repeated SMS and call notifications.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Multi-alert outputs ensure reliable early warning based on 83%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3430C-FD78-EDB9-FADD-A3C3D422B2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31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71A5-85ED-CBA0-3886-09EE1E6F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8BBC9E-3C61-AEEA-0696-9DA34833D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746760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Development</a:t>
            </a:r>
            <a:endParaRPr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7E299-0570-DA64-72AD-D1E1D4EA5E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72FBF-1340-448E-BDE3-8FC9BDF4A521}"/>
              </a:ext>
            </a:extLst>
          </p:cNvPr>
          <p:cNvSpPr txBox="1"/>
          <p:nvPr/>
        </p:nvSpPr>
        <p:spPr>
          <a:xfrm>
            <a:off x="402336" y="1025063"/>
            <a:ext cx="831494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000" dirty="0"/>
              <a:t>A Jetson Nano is used as the core processing unit to run the YOLO-based deep learning model for real-time elephant detection.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A camera module (USB camera) is interfaced with the Jetson Nano to capture live video frames for continuous monitoring. 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The prototype supports basic hardware interfacing, with provisions to connect an external buzzer for on-site alert generation.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The system is powered using a regulated power supply, suitable for laboratory and prototype-level testing.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The complete hardware setup is developed as a functional prototype to validate real-time detection and alert mechanisms before large-scale deployment.</a:t>
            </a:r>
          </a:p>
        </p:txBody>
      </p:sp>
    </p:spTree>
    <p:extLst>
      <p:ext uri="{BB962C8B-B14F-4D97-AF65-F5344CB8AC3E}">
        <p14:creationId xmlns:p14="http://schemas.microsoft.com/office/powerpoint/2010/main" val="40231113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85121"/>
            <a:ext cx="5525261" cy="492443"/>
          </a:xfrm>
        </p:spPr>
        <p:txBody>
          <a:bodyPr/>
          <a:lstStyle/>
          <a:p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Development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33</a:t>
            </a:fld>
            <a:endParaRPr lang="en-IN"/>
          </a:p>
        </p:txBody>
      </p:sp>
      <p:grpSp>
        <p:nvGrpSpPr>
          <p:cNvPr id="5" name="Group 4"/>
          <p:cNvGrpSpPr/>
          <p:nvPr/>
        </p:nvGrpSpPr>
        <p:grpSpPr>
          <a:xfrm>
            <a:off x="0" y="853793"/>
            <a:ext cx="9056407" cy="5342471"/>
            <a:chOff x="0" y="853793"/>
            <a:chExt cx="9056407" cy="53424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B97310-FFF1-1D74-76DE-BCCED2422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53793"/>
              <a:ext cx="9056407" cy="534247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4825999" y="3551845"/>
              <a:ext cx="1146629" cy="5225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noFill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057315" y="1205516"/>
              <a:ext cx="1654629" cy="63862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800" b="1" dirty="0" smtClean="0"/>
                <a:t>Jetson Nano</a:t>
              </a:r>
              <a:endParaRPr lang="en-IN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063740" y="4213860"/>
              <a:ext cx="480060" cy="2895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960257" y="4991893"/>
              <a:ext cx="1702888" cy="41642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Alarm/Buzzer</a:t>
              </a:r>
              <a:endParaRPr lang="en-IN"/>
            </a:p>
          </p:txBody>
        </p:sp>
        <p:cxnSp>
          <p:nvCxnSpPr>
            <p:cNvPr id="11" name="Straight Arrow Connector 10"/>
            <p:cNvCxnSpPr>
              <a:endCxn id="9" idx="2"/>
            </p:cNvCxnSpPr>
            <p:nvPr/>
          </p:nvCxnSpPr>
          <p:spPr>
            <a:xfrm flipV="1">
              <a:off x="6429829" y="4503420"/>
              <a:ext cx="873941" cy="60332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3741185" y="2519457"/>
              <a:ext cx="2438144" cy="10055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noFill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5399313" y="1826740"/>
              <a:ext cx="2656115" cy="170770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875314" y="927106"/>
              <a:ext cx="2097314" cy="597726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RPS Power Supply</a:t>
              </a:r>
              <a:endParaRPr lang="en-IN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5360852" y="1524832"/>
              <a:ext cx="0" cy="99462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34630" y="4074358"/>
              <a:ext cx="1011084" cy="3234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noFill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925944" y="5000986"/>
              <a:ext cx="1702888" cy="41642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Arial" panose="020B0604020202020204" pitchFamily="34" charset="0"/>
                </a:rPr>
                <a:t>Camera</a:t>
              </a:r>
              <a:endParaRPr lang="en-IN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 flipV="1">
              <a:off x="8157029" y="4397829"/>
              <a:ext cx="14514" cy="59406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42967" y="1844145"/>
              <a:ext cx="3698218" cy="20892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noFill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537" y="927106"/>
              <a:ext cx="2709090" cy="597726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Live Elephant Feed</a:t>
              </a:r>
              <a:endParaRPr lang="en-IN" dirty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2148114" y="1524830"/>
              <a:ext cx="14515" cy="31931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333055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1D085-33D7-A857-7080-1AA2C4B7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974835-8A7E-0A7F-CBB7-08A5633CA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264" y="-190921"/>
            <a:ext cx="8458200" cy="1190711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used &amp; Justification of their selection </a:t>
            </a:r>
            <a:endParaRPr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3D6E5-FC2A-6239-9F83-A7AF5CE9E5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D148C8-18C4-A162-7152-71C0A2973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156164"/>
              </p:ext>
            </p:extLst>
          </p:nvPr>
        </p:nvGraphicFramePr>
        <p:xfrm>
          <a:off x="114300" y="999790"/>
          <a:ext cx="8915400" cy="5205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292">
                  <a:extLst>
                    <a:ext uri="{9D8B030D-6E8A-4147-A177-3AD203B41FA5}">
                      <a16:colId xmlns:a16="http://schemas.microsoft.com/office/drawing/2014/main" val="3882711868"/>
                    </a:ext>
                  </a:extLst>
                </a:gridCol>
                <a:gridCol w="5055108">
                  <a:extLst>
                    <a:ext uri="{9D8B030D-6E8A-4147-A177-3AD203B41FA5}">
                      <a16:colId xmlns:a16="http://schemas.microsoft.com/office/drawing/2014/main" val="2607354561"/>
                    </a:ext>
                  </a:extLst>
                </a:gridCol>
              </a:tblGrid>
              <a:tr h="4973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Component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Justification for Selection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588360"/>
                  </a:ext>
                </a:extLst>
              </a:tr>
              <a:tr h="1425830">
                <a:tc>
                  <a:txBody>
                    <a:bodyPr/>
                    <a:lstStyle/>
                    <a:p>
                      <a:r>
                        <a:rPr lang="en-US" sz="2000" dirty="0"/>
                        <a:t>Jetson Nano</a:t>
                      </a:r>
                      <a:r>
                        <a:rPr lang="en-US" sz="2000" baseline="0" dirty="0"/>
                        <a:t>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Chosen as the main processing unit due to its GPU-accelerated deep learning capability, enabling real-time YOLO model execution with low latency on an edge platform.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722509"/>
                  </a:ext>
                </a:extLst>
              </a:tr>
              <a:tr h="1094242">
                <a:tc>
                  <a:txBody>
                    <a:bodyPr/>
                    <a:lstStyle/>
                    <a:p>
                      <a:r>
                        <a:rPr lang="en-IN" sz="2000" dirty="0"/>
                        <a:t>Camera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Selected to capture images, allowing reliable elephant detection during night-time and low-visibility conditions.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597954"/>
                  </a:ext>
                </a:extLst>
              </a:tr>
              <a:tr h="1094242">
                <a:tc>
                  <a:txBody>
                    <a:bodyPr/>
                    <a:lstStyle/>
                    <a:p>
                      <a:r>
                        <a:rPr lang="en-IN" sz="2000" dirty="0"/>
                        <a:t>YOLO Deep Learning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Used for its real-time object detection performance, high accuracy, and efficient deployment on edge devices like Jetson Nano.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877451"/>
                  </a:ext>
                </a:extLst>
              </a:tr>
              <a:tr h="1094242">
                <a:tc>
                  <a:txBody>
                    <a:bodyPr/>
                    <a:lstStyle/>
                    <a:p>
                      <a:r>
                        <a:rPr lang="en-IN" sz="2000" dirty="0"/>
                        <a:t>Buzzer (Alert 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Provides immediate on-site audio alerts when elephant presence is detected, ensuring rapid local warning.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519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815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00AC-2C32-7C1A-649E-1BAE3B25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16F2A7-7D82-CA46-7BB6-51CD2C547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6974" y="-83199"/>
            <a:ext cx="6196406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Results</a:t>
            </a:r>
            <a:endParaRPr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1BB32-6368-3E1C-84EC-0274C25ED4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5972F7-F54A-D8D6-3DEB-9131AE3CF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23" y="1183163"/>
            <a:ext cx="828338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1.The YOLOv8 Nano model 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~98% detection accuracy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the wild elephant dataset after fine-tuning and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2.Real-time inference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Jetson Nano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~35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latency per frame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(&gt;30 FPS), ensuring fast and reliable alert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3.Confidence threshold tuning (0.80)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optimization significantly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false positives (&lt;2%)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system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4.The model maintained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97.5% recall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successfully detecting elephants even under partial occlusion and complex forest backgrounds.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5.The complete pipeline (Detection → Confirmation → Buzzer Activation → Notification) was tested and validated successfully in real-time conditions, including low-light scenarios.</a:t>
            </a:r>
          </a:p>
        </p:txBody>
      </p:sp>
    </p:spTree>
    <p:extLst>
      <p:ext uri="{BB962C8B-B14F-4D97-AF65-F5344CB8AC3E}">
        <p14:creationId xmlns:p14="http://schemas.microsoft.com/office/powerpoint/2010/main" val="1338846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9307-4AC8-C12D-84D1-D9CCC0CA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85AAD6-4606-8CB4-D30B-4DBA3E135E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845820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Analyses of experimental results/data</a:t>
            </a:r>
            <a:endParaRPr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E34C9-4B03-1067-9EC9-217798EC13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DEED8F-11AB-31D4-B109-3C8181C20A96}"/>
              </a:ext>
            </a:extLst>
          </p:cNvPr>
          <p:cNvSpPr txBox="1"/>
          <p:nvPr/>
        </p:nvSpPr>
        <p:spPr>
          <a:xfrm>
            <a:off x="304800" y="1242072"/>
            <a:ext cx="87325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000" dirty="0"/>
              <a:t>Training the YOLO model with  images resulted in a noticeable improvement in detection accuracy.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The use of a high confidence threshold effectively reduced false detections during testing.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 Real-time inference on Jetson Nano showed low latency and stable performance.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The system performed reliably under low-light and night-time conditions using thermal inputs.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dirty="0"/>
              <a:t>End-to-end testing confirmed correct coordination between detection, visualization, and alert triggering.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20083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885" y="76200"/>
            <a:ext cx="642023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Financial Plan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94D60-B1B0-FF51-F1F2-6757EB15B4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D59DA4-7572-4963-C674-DEB8DAE12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012189"/>
              </p:ext>
            </p:extLst>
          </p:nvPr>
        </p:nvGraphicFramePr>
        <p:xfrm>
          <a:off x="707136" y="1397000"/>
          <a:ext cx="7571232" cy="339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16">
                  <a:extLst>
                    <a:ext uri="{9D8B030D-6E8A-4147-A177-3AD203B41FA5}">
                      <a16:colId xmlns:a16="http://schemas.microsoft.com/office/drawing/2014/main" val="580028102"/>
                    </a:ext>
                  </a:extLst>
                </a:gridCol>
                <a:gridCol w="3785616">
                  <a:extLst>
                    <a:ext uri="{9D8B030D-6E8A-4147-A177-3AD203B41FA5}">
                      <a16:colId xmlns:a16="http://schemas.microsoft.com/office/drawing/2014/main" val="3697263566"/>
                    </a:ext>
                  </a:extLst>
                </a:gridCol>
              </a:tblGrid>
              <a:tr h="95696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Equipment/Component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Price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912708"/>
                  </a:ext>
                </a:extLst>
              </a:tr>
              <a:tr h="117982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JETSON</a:t>
                      </a:r>
                      <a:r>
                        <a:rPr lang="en-US" sz="24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NANO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733179"/>
                  </a:ext>
                </a:extLst>
              </a:tr>
              <a:tr h="12576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CAMERA</a:t>
                      </a:r>
                      <a:endParaRPr lang="en-IN" sz="2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104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297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76200"/>
            <a:ext cx="6943915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Mapping of the Project with SDGs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01A40-0437-A241-8DAA-D79B23799F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EBE335F8-37C3-09DB-7302-839EA23B0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7" y="1143000"/>
            <a:ext cx="1066800" cy="883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5B22C-1623-38C1-48CA-1145E9DA4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0" y="2819400"/>
            <a:ext cx="1234547" cy="1044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5858C1-4C33-99EC-7841-322D152F2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0" y="4864332"/>
            <a:ext cx="1265030" cy="1044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3F0D5E-54D4-24C5-7865-47B5A5A3C426}"/>
              </a:ext>
            </a:extLst>
          </p:cNvPr>
          <p:cNvSpPr txBox="1"/>
          <p:nvPr/>
        </p:nvSpPr>
        <p:spPr>
          <a:xfrm>
            <a:off x="1682496" y="1143000"/>
            <a:ext cx="7205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SDG 9 – Industry, Innovation, and Infrastructure: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Applies modern technologies like AI, sensors, and data-driven solutions to solve real-world ecological problems.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CBB30C-C269-35E0-E865-669A9D3BB4A0}"/>
              </a:ext>
            </a:extLst>
          </p:cNvPr>
          <p:cNvSpPr txBox="1"/>
          <p:nvPr/>
        </p:nvSpPr>
        <p:spPr>
          <a:xfrm>
            <a:off x="1767840" y="2819400"/>
            <a:ext cx="72553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SDG 11 – Sustainable Cities and Communities: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Provides a safer living environment for communities living near forests by reducing unexpected elephant intrusions.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Strengthens community resilience and preparedness through early warning systems and education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FE5BE-1A08-A646-8AA9-004A4A6E7054}"/>
              </a:ext>
            </a:extLst>
          </p:cNvPr>
          <p:cNvSpPr txBox="1"/>
          <p:nvPr/>
        </p:nvSpPr>
        <p:spPr>
          <a:xfrm>
            <a:off x="1767840" y="4647683"/>
            <a:ext cx="7269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SDG 15 – Life on Land: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The project directly contributes to protecting, restoring, and promoting the sustainable use of terrestrial ecosystems.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By reducing human-elephant conflict, it helps in the conservation of the endangered Asian elephant and their natural habitats.</a:t>
            </a:r>
          </a:p>
        </p:txBody>
      </p:sp>
    </p:spTree>
    <p:extLst>
      <p:ext uri="{BB962C8B-B14F-4D97-AF65-F5344CB8AC3E}">
        <p14:creationId xmlns:p14="http://schemas.microsoft.com/office/powerpoint/2010/main" val="3492497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648" y="-167640"/>
            <a:ext cx="8404266" cy="1683153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Team Dynamics (includes team member contributions, </a:t>
            </a: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member recognition, team motivation</a:t>
            </a: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DF3E15-054B-5FC1-7467-B45C69C063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D58E02-DB93-56F0-2747-19C577E8D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923960"/>
              </p:ext>
            </p:extLst>
          </p:nvPr>
        </p:nvGraphicFramePr>
        <p:xfrm>
          <a:off x="132588" y="1810589"/>
          <a:ext cx="8878824" cy="4310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706">
                  <a:extLst>
                    <a:ext uri="{9D8B030D-6E8A-4147-A177-3AD203B41FA5}">
                      <a16:colId xmlns:a16="http://schemas.microsoft.com/office/drawing/2014/main" val="2928975772"/>
                    </a:ext>
                  </a:extLst>
                </a:gridCol>
                <a:gridCol w="2219706">
                  <a:extLst>
                    <a:ext uri="{9D8B030D-6E8A-4147-A177-3AD203B41FA5}">
                      <a16:colId xmlns:a16="http://schemas.microsoft.com/office/drawing/2014/main" val="1935799866"/>
                    </a:ext>
                  </a:extLst>
                </a:gridCol>
                <a:gridCol w="2219706">
                  <a:extLst>
                    <a:ext uri="{9D8B030D-6E8A-4147-A177-3AD203B41FA5}">
                      <a16:colId xmlns:a16="http://schemas.microsoft.com/office/drawing/2014/main" val="844854721"/>
                    </a:ext>
                  </a:extLst>
                </a:gridCol>
                <a:gridCol w="2219706">
                  <a:extLst>
                    <a:ext uri="{9D8B030D-6E8A-4147-A177-3AD203B41FA5}">
                      <a16:colId xmlns:a16="http://schemas.microsoft.com/office/drawing/2014/main" val="1331181573"/>
                    </a:ext>
                  </a:extLst>
                </a:gridCol>
              </a:tblGrid>
              <a:tr h="6213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</a:t>
                      </a:r>
                    </a:p>
                    <a:p>
                      <a:pPr algn="ctr"/>
                      <a:r>
                        <a:rPr lang="en-US" dirty="0"/>
                        <a:t>Member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916270"/>
                  </a:ext>
                </a:extLst>
              </a:tr>
              <a:tr h="3670211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G.G Jegadheeshwaran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Prepared the dataset by extracting frames from elephant and </a:t>
                      </a:r>
                      <a:r>
                        <a:rPr lang="en-US" b="1" dirty="0"/>
                        <a:t>stock videos</a:t>
                      </a:r>
                      <a:r>
                        <a:rPr lang="en-US" dirty="0"/>
                        <a:t>, labeling them across varied poses, lighting, and environments. This created a diverse dataset that strengthened the model’s training and reliability.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Recognized as the </a:t>
                      </a:r>
                      <a:r>
                        <a:rPr lang="en-US" b="0" dirty="0"/>
                        <a:t>dataset specialist </a:t>
                      </a:r>
                      <a:r>
                        <a:rPr lang="en-US" dirty="0"/>
                        <a:t>for ensuring the training data was clean and diverse.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Motivated by contributing to the foundation that improves the model’s accuracy and robustness.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24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1722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665D-2752-A825-F7D9-917B7DBB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0"/>
            <a:ext cx="8375904" cy="1477328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Team Dynamics (includes team member contributions, </a:t>
            </a: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member recognition, team motivation</a:t>
            </a: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4B8F6-A674-BEA0-ACA6-CDB84B1B74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40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B99481-1462-B190-99A9-8C44B0525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26271"/>
              </p:ext>
            </p:extLst>
          </p:nvPr>
        </p:nvGraphicFramePr>
        <p:xfrm>
          <a:off x="243840" y="1743456"/>
          <a:ext cx="8793480" cy="4437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370">
                  <a:extLst>
                    <a:ext uri="{9D8B030D-6E8A-4147-A177-3AD203B41FA5}">
                      <a16:colId xmlns:a16="http://schemas.microsoft.com/office/drawing/2014/main" val="1970897666"/>
                    </a:ext>
                  </a:extLst>
                </a:gridCol>
                <a:gridCol w="2198370">
                  <a:extLst>
                    <a:ext uri="{9D8B030D-6E8A-4147-A177-3AD203B41FA5}">
                      <a16:colId xmlns:a16="http://schemas.microsoft.com/office/drawing/2014/main" val="703813129"/>
                    </a:ext>
                  </a:extLst>
                </a:gridCol>
                <a:gridCol w="2198370">
                  <a:extLst>
                    <a:ext uri="{9D8B030D-6E8A-4147-A177-3AD203B41FA5}">
                      <a16:colId xmlns:a16="http://schemas.microsoft.com/office/drawing/2014/main" val="1502590489"/>
                    </a:ext>
                  </a:extLst>
                </a:gridCol>
                <a:gridCol w="2198370">
                  <a:extLst>
                    <a:ext uri="{9D8B030D-6E8A-4147-A177-3AD203B41FA5}">
                      <a16:colId xmlns:a16="http://schemas.microsoft.com/office/drawing/2014/main" val="2273124313"/>
                    </a:ext>
                  </a:extLst>
                </a:gridCol>
              </a:tblGrid>
              <a:tr h="7576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</a:t>
                      </a:r>
                    </a:p>
                    <a:p>
                      <a:pPr algn="ctr"/>
                      <a:r>
                        <a:rPr lang="en-US" dirty="0"/>
                        <a:t>Member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586647"/>
                  </a:ext>
                </a:extLst>
              </a:tr>
              <a:tr h="368020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Hamebantei</a:t>
                      </a:r>
                      <a:r>
                        <a:rPr lang="en-US" sz="1800" b="1" dirty="0"/>
                        <a:t>  K  </a:t>
                      </a:r>
                      <a:r>
                        <a:rPr lang="en-US" sz="1800" b="1" dirty="0" err="1"/>
                        <a:t>Tangsang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Led the </a:t>
                      </a:r>
                      <a:r>
                        <a:rPr lang="en-US" b="0" dirty="0"/>
                        <a:t>transition from image-based detection to video-based detection. </a:t>
                      </a:r>
                      <a:r>
                        <a:rPr lang="en-US" dirty="0"/>
                        <a:t>Took initiative in exploring video datasets and ensuring that real-time performance requirements were addressed.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Recognized as the </a:t>
                      </a:r>
                      <a:r>
                        <a:rPr lang="en-US" b="0" dirty="0"/>
                        <a:t>strategic planner </a:t>
                      </a:r>
                      <a:r>
                        <a:rPr lang="en-US" dirty="0"/>
                        <a:t>who guided the shift toward a more practical solution.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Motivated by the vision of building a system that works effectively in real-world scenarios.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1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077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E570-74E1-1DA3-D704-D63319A4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04" y="0"/>
            <a:ext cx="8461247" cy="1969770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Team Dynamics (includes team member contributions, </a:t>
            </a: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member recognition, team motivation</a:t>
            </a: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18E17-753C-098B-00B3-D6532B344A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41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DAB085-8099-37B8-C886-7D40F054A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388025"/>
              </p:ext>
            </p:extLst>
          </p:nvPr>
        </p:nvGraphicFramePr>
        <p:xfrm>
          <a:off x="103630" y="1792224"/>
          <a:ext cx="8933688" cy="4474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307">
                  <a:extLst>
                    <a:ext uri="{9D8B030D-6E8A-4147-A177-3AD203B41FA5}">
                      <a16:colId xmlns:a16="http://schemas.microsoft.com/office/drawing/2014/main" val="1556356413"/>
                    </a:ext>
                  </a:extLst>
                </a:gridCol>
                <a:gridCol w="2457537">
                  <a:extLst>
                    <a:ext uri="{9D8B030D-6E8A-4147-A177-3AD203B41FA5}">
                      <a16:colId xmlns:a16="http://schemas.microsoft.com/office/drawing/2014/main" val="1414358190"/>
                    </a:ext>
                  </a:extLst>
                </a:gridCol>
                <a:gridCol w="2233422">
                  <a:extLst>
                    <a:ext uri="{9D8B030D-6E8A-4147-A177-3AD203B41FA5}">
                      <a16:colId xmlns:a16="http://schemas.microsoft.com/office/drawing/2014/main" val="1727126964"/>
                    </a:ext>
                  </a:extLst>
                </a:gridCol>
                <a:gridCol w="2233422">
                  <a:extLst>
                    <a:ext uri="{9D8B030D-6E8A-4147-A177-3AD203B41FA5}">
                      <a16:colId xmlns:a16="http://schemas.microsoft.com/office/drawing/2014/main" val="3697389254"/>
                    </a:ext>
                  </a:extLst>
                </a:gridCol>
              </a:tblGrid>
              <a:tr h="1066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</a:t>
                      </a:r>
                    </a:p>
                    <a:p>
                      <a:pPr algn="ctr"/>
                      <a:r>
                        <a:rPr lang="en-US" dirty="0"/>
                        <a:t>Member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81151"/>
                  </a:ext>
                </a:extLst>
              </a:tr>
              <a:tr h="340758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Arnab  </a:t>
                      </a:r>
                      <a:r>
                        <a:rPr lang="en-US" b="1" dirty="0" err="1"/>
                        <a:t>Sheoran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Implemented and fine-tuned the </a:t>
                      </a:r>
                      <a:r>
                        <a:rPr lang="en-US" b="0" dirty="0"/>
                        <a:t>deep learning model (YOLO/Mobile Net)</a:t>
                      </a:r>
                      <a:r>
                        <a:rPr lang="en-US" dirty="0"/>
                        <a:t> for real-time detection and prepared it for </a:t>
                      </a:r>
                      <a:r>
                        <a:rPr lang="en-US" b="0" dirty="0"/>
                        <a:t>integration with surveillance systems.</a:t>
                      </a:r>
                      <a:endParaRPr lang="en-IN" b="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Recognized as the </a:t>
                      </a:r>
                      <a:r>
                        <a:rPr lang="en-US" b="0" dirty="0"/>
                        <a:t>technical expert </a:t>
                      </a:r>
                      <a:r>
                        <a:rPr lang="en-US" dirty="0"/>
                        <a:t>who ensured the model could run efficiently in real-time.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Motivated by the challenge of achieving reliable detection and building an early warning system that benefits communities.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472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181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746760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Innovation in the Project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AC66F-1816-2AA5-AB2A-E36F37D441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05F5688-0168-29F0-EB28-862320334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84262"/>
            <a:ext cx="914400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1.Real-Time Early Warning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Detects elephant movement near villages and provides advance alerts to prevent sudden encounters.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2.I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oT-Based Smart Monitoring Network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Integrates sensors, communication modules, and alert systems into a connected and automated setup.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3.Instant Multi-Level Alert Mechanism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Sends immediate notifications to both villagers and forest officials for quick response and damage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4.Preventive &amp; Non-Invasive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Focuses on avoiding conflict without harming wildlife, promoting safe coexistence.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5.Scalable, Adaptable &amp; Cost-Effective Design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Can be implemented in different forest-edge regions and expanded based on need</a:t>
            </a:r>
          </a:p>
        </p:txBody>
      </p:sp>
    </p:spTree>
    <p:extLst>
      <p:ext uri="{BB962C8B-B14F-4D97-AF65-F5344CB8AC3E}">
        <p14:creationId xmlns:p14="http://schemas.microsoft.com/office/powerpoint/2010/main" val="2996604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0D53-B026-BAB9-0F15-FE957061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441" y="19713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Impact of the Project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4E38-93BD-D56D-7C65-B9CD41DD54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43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181864-3200-6649-F1FC-C2B94EA0E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" y="601842"/>
            <a:ext cx="8933411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1.Industry-Ready Smart Solution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Deployable IoT-based early warning system for forest departments and commercial partners, with strong potential for large-scale implementation and public-private collaboration.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2.Engineering &amp; Scientific Innovation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Integrates sensors, embedded systems, real-time data transmission, AI-based prediction, and GIS mapping for advanced wildlife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3.Commercial &amp; Startup Potential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Scalable and replicable model that can evolve into a market-ready product addressing human-wildlife conflict across India and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4.Research &amp; Publication Scope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Suitable for journals and conferences in IoT, environmental engineering, sustainable development, and conservation technology with real-world field data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5.Patent &amp; Intellectual Property Opportunity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Potential for patenting the detection mechanism, alert communication framework, and integrated hardware–software conflict mitigation model.</a:t>
            </a:r>
          </a:p>
        </p:txBody>
      </p:sp>
    </p:spTree>
    <p:extLst>
      <p:ext uri="{BB962C8B-B14F-4D97-AF65-F5344CB8AC3E}">
        <p14:creationId xmlns:p14="http://schemas.microsoft.com/office/powerpoint/2010/main" val="1593451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0042" y="-174912"/>
            <a:ext cx="6943915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Societal Impact of the Project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FD58B-9953-DE6F-2D79-50DFD79F3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28F29-DBB5-962C-965B-C304B5CEF674}"/>
              </a:ext>
            </a:extLst>
          </p:cNvPr>
          <p:cNvSpPr txBox="1"/>
          <p:nvPr/>
        </p:nvSpPr>
        <p:spPr>
          <a:xfrm>
            <a:off x="146304" y="523356"/>
            <a:ext cx="8322901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MT"/>
              </a:rPr>
              <a:t>Enhances safety</a:t>
            </a:r>
            <a:r>
              <a:rPr lang="en-US" sz="2000" dirty="0">
                <a:latin typeface="Arial MT"/>
              </a:rPr>
              <a:t> for villagers living near forest areas by reducing sudden human-elephant encounters.</a:t>
            </a:r>
          </a:p>
          <a:p>
            <a:pPr algn="just"/>
            <a:endParaRPr lang="en-US" sz="2000" dirty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Arial MT"/>
              </a:rPr>
              <a:t> </a:t>
            </a:r>
            <a:r>
              <a:rPr lang="en-US" sz="2000" b="1" dirty="0">
                <a:latin typeface="Arial MT"/>
              </a:rPr>
              <a:t>Protects agricultural livelihoods</a:t>
            </a:r>
            <a:r>
              <a:rPr lang="en-US" sz="2000" dirty="0">
                <a:latin typeface="Arial MT"/>
              </a:rPr>
              <a:t> by preventing crop destruction and property damage caused by elephant intrusions.</a:t>
            </a:r>
          </a:p>
          <a:p>
            <a:pPr algn="just"/>
            <a:endParaRPr lang="en-US" sz="2000" dirty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Arial MT"/>
              </a:rPr>
              <a:t> </a:t>
            </a:r>
            <a:r>
              <a:rPr lang="en-US" sz="2000" b="1" dirty="0">
                <a:latin typeface="Arial MT"/>
              </a:rPr>
              <a:t>Provides timely alerts</a:t>
            </a:r>
            <a:r>
              <a:rPr lang="en-US" sz="2000" dirty="0">
                <a:latin typeface="Arial MT"/>
              </a:rPr>
              <a:t> to both local communities and forest officials, allowing quick response and damage control.</a:t>
            </a:r>
          </a:p>
          <a:p>
            <a:pPr algn="just"/>
            <a:endParaRPr lang="en-US" sz="2000" dirty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Arial MT"/>
              </a:rPr>
              <a:t> </a:t>
            </a:r>
            <a:r>
              <a:rPr lang="en-US" sz="2000" b="1" dirty="0">
                <a:latin typeface="Arial MT"/>
              </a:rPr>
              <a:t>Improves psychological well-being</a:t>
            </a:r>
            <a:r>
              <a:rPr lang="en-US" sz="2000" dirty="0">
                <a:latin typeface="Arial MT"/>
              </a:rPr>
              <a:t> of residents by reducing fear and anxiety related to wildlife conflicts.</a:t>
            </a:r>
          </a:p>
          <a:p>
            <a:pPr algn="just"/>
            <a:endParaRPr lang="en-US" sz="2000" dirty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MT"/>
              </a:rPr>
              <a:t>Supports peaceful coexistence</a:t>
            </a:r>
            <a:r>
              <a:rPr lang="en-US" sz="2000" dirty="0">
                <a:latin typeface="Arial MT"/>
              </a:rPr>
              <a:t> between humans and wildlife, encouraging a balanced and sustainable environment.</a:t>
            </a:r>
          </a:p>
          <a:p>
            <a:pPr algn="just"/>
            <a:endParaRPr lang="en-US" sz="2000" dirty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Arial MT"/>
              </a:rPr>
              <a:t> </a:t>
            </a:r>
            <a:r>
              <a:rPr lang="en-US" sz="2000" b="1" dirty="0">
                <a:latin typeface="Arial MT"/>
              </a:rPr>
              <a:t>Aligns with SDGs</a:t>
            </a:r>
            <a:r>
              <a:rPr lang="en-US" sz="2000" dirty="0">
                <a:latin typeface="Arial MT"/>
              </a:rPr>
              <a:t>, especially in wildlife protection, sustainable communities, and responsible innovation.</a:t>
            </a:r>
          </a:p>
          <a:p>
            <a:pPr algn="just"/>
            <a:endParaRPr lang="en-US" sz="2000" dirty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Arial MT"/>
              </a:rPr>
              <a:t> </a:t>
            </a:r>
            <a:r>
              <a:rPr lang="en-US" sz="2000" b="1" dirty="0">
                <a:latin typeface="Arial MT"/>
              </a:rPr>
              <a:t>Scalable and replicable model</a:t>
            </a:r>
            <a:r>
              <a:rPr lang="en-US" sz="2000" dirty="0">
                <a:latin typeface="Arial MT"/>
              </a:rPr>
              <a:t> for other regions in India and globally facing similar human-wildlife conflict issues.</a:t>
            </a:r>
            <a:endParaRPr lang="en-IN" sz="2000" dirty="0">
              <a:latin typeface="Arial MT"/>
            </a:endParaRPr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0516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Publications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39" y="1168653"/>
            <a:ext cx="8072120" cy="1107996"/>
          </a:xfrm>
        </p:spPr>
        <p:txBody>
          <a:bodyPr/>
          <a:lstStyle/>
          <a:p>
            <a:pPr marL="797560" marR="5080" indent="-784860" algn="l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Design and Implementation of an  AI Based Technique for Human Elephant Conflict Mitigation- will submit in IEEE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2382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0042" y="-221698"/>
            <a:ext cx="6943915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63676-54BF-4E36-6722-F171995EB5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A3C24-E265-A53B-D1AF-BD3BE70161A0}"/>
              </a:ext>
            </a:extLst>
          </p:cNvPr>
          <p:cNvSpPr txBox="1"/>
          <p:nvPr/>
        </p:nvSpPr>
        <p:spPr>
          <a:xfrm>
            <a:off x="239861" y="999508"/>
            <a:ext cx="832290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IN" sz="2000" dirty="0"/>
              <a:t>Morrison, J., Chatterjee, M., Ramkumar, K., Tiwari, S., Walker, S. L., Wilson, S., &amp; Zimmermann, A. (2025). </a:t>
            </a:r>
            <a:r>
              <a:rPr lang="en-IN" sz="2000" i="1" dirty="0"/>
              <a:t>Spatiotemporal distribution of negative human-elephant interactions in Wayanad district, Kerala, India</a:t>
            </a:r>
            <a:r>
              <a:rPr lang="en-IN" sz="2000" dirty="0"/>
              <a:t>. Global Ecology and Conservation, 62, e03742. </a:t>
            </a:r>
            <a:r>
              <a:rPr lang="en-IN" sz="2000" dirty="0">
                <a:hlinkClick r:id="rId2"/>
              </a:rPr>
              <a:t>https://doi.org/10.1016/j.gecco.2025.e03742</a:t>
            </a:r>
            <a:endParaRPr lang="en-IN" sz="2000" dirty="0"/>
          </a:p>
          <a:p>
            <a:pPr marL="342900" indent="-342900" algn="just">
              <a:buAutoNum type="arabicPeriod"/>
            </a:pPr>
            <a:endParaRPr lang="en-IN" sz="2000" dirty="0"/>
          </a:p>
          <a:p>
            <a:pPr marL="342900" indent="-342900" algn="just">
              <a:buAutoNum type="arabicPeriod"/>
            </a:pPr>
            <a:r>
              <a:rPr lang="en-US" sz="2000" dirty="0"/>
              <a:t> </a:t>
            </a:r>
            <a:r>
              <a:rPr lang="en-IN" sz="2000" dirty="0"/>
              <a:t> M. </a:t>
            </a:r>
            <a:r>
              <a:rPr lang="en-IN" sz="2000" dirty="0" err="1"/>
              <a:t>Jothibasu</a:t>
            </a:r>
            <a:r>
              <a:rPr lang="en-IN" sz="2000" dirty="0"/>
              <a:t>, M. Sowmiya, R. Harsha, K.S. Naveen, T.B. Suriyaprakash, Improvement of computer vision-based elephant intrusion detection system (EIDS) with deep learning models, </a:t>
            </a:r>
            <a:r>
              <a:rPr lang="en-IN" sz="2000" dirty="0" err="1"/>
              <a:t>Innov</a:t>
            </a:r>
            <a:r>
              <a:rPr lang="en-IN" sz="2000" dirty="0"/>
              <a:t>. Eng. AI Appl. (2023) 131–153.</a:t>
            </a:r>
          </a:p>
          <a:p>
            <a:pPr marL="342900" indent="-342900" algn="just">
              <a:buAutoNum type="arabicPeriod"/>
            </a:pPr>
            <a:endParaRPr lang="en-IN" sz="2000" dirty="0"/>
          </a:p>
          <a:p>
            <a:pPr marL="342900" indent="-342900" algn="just">
              <a:buAutoNum type="arabicPeriod"/>
            </a:pPr>
            <a:r>
              <a:rPr lang="en-US" sz="2000" dirty="0"/>
              <a:t> </a:t>
            </a:r>
            <a:r>
              <a:rPr lang="en-IN" sz="2000" dirty="0"/>
              <a:t>Gunaratna, C., Rajendran, M., Sundaram, S., &amp; Prasad, R. (2024). </a:t>
            </a:r>
            <a:r>
              <a:rPr lang="en-IN" sz="2000" i="1" dirty="0"/>
              <a:t>Deep learning for real-time wildlife intrusion detection with colour distribution preserved GANs</a:t>
            </a:r>
            <a:r>
              <a:rPr lang="en-IN" sz="2000" dirty="0"/>
              <a:t>. Ecological Informatics, 78, 102362. </a:t>
            </a:r>
            <a:r>
              <a:rPr lang="en-IN" sz="2000" dirty="0">
                <a:hlinkClick r:id="rId3"/>
              </a:rPr>
              <a:t>https://doi.org/10.1016/j.ecoinf.2024.102362</a:t>
            </a:r>
            <a:endParaRPr lang="en-IN" sz="2000" dirty="0"/>
          </a:p>
          <a:p>
            <a:pPr algn="just"/>
            <a:endParaRPr lang="en-US" sz="2000" dirty="0"/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2336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277D-AAEA-939F-4126-9A6991F76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649" y="19713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03158-E72E-B379-9EE9-9CB120BA1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3108543"/>
          </a:xfrm>
        </p:spPr>
        <p:txBody>
          <a:bodyPr/>
          <a:lstStyle/>
          <a:p>
            <a:pPr algn="just"/>
            <a:r>
              <a:rPr lang="en-US" sz="2000" dirty="0"/>
              <a:t>4.Rathnayake, C. W., Jones, S., Soto-</a:t>
            </a:r>
            <a:r>
              <a:rPr lang="en-US" sz="2000" dirty="0" err="1"/>
              <a:t>Berelov</a:t>
            </a:r>
            <a:r>
              <a:rPr lang="en-US" sz="2000" dirty="0"/>
              <a:t>, M., &amp; Wallace, L. (2020). A geospatial approach for mapping and predicting human–elephant conflict. </a:t>
            </a:r>
            <a:r>
              <a:rPr lang="en-US" sz="2000" i="1" dirty="0"/>
              <a:t>Ecological Informatics, 56</a:t>
            </a:r>
            <a:r>
              <a:rPr lang="en-US" sz="2000" dirty="0"/>
              <a:t>, 101065. </a:t>
            </a:r>
            <a:r>
              <a:rPr lang="en-US" sz="2000" dirty="0">
                <a:hlinkClick r:id="rId2"/>
              </a:rPr>
              <a:t>https://doi.org/10.1016/j.ecoinf.2020.101065</a:t>
            </a:r>
            <a:r>
              <a:rPr lang="en-US" sz="2000" dirty="0"/>
              <a:t> </a:t>
            </a:r>
          </a:p>
          <a:p>
            <a:pPr algn="just"/>
            <a:r>
              <a:rPr lang="en-US" sz="2000" dirty="0"/>
              <a:t> </a:t>
            </a:r>
          </a:p>
          <a:p>
            <a:pPr algn="just"/>
            <a:r>
              <a:rPr lang="en-US" sz="2000" dirty="0"/>
              <a:t>5. Dutta, S., Ghosh, S., &amp; Kumar, A. (2021). Intelligent detection and alert system to prevent railway accidents due to elephant crossing. </a:t>
            </a:r>
            <a:r>
              <a:rPr lang="en-US" sz="2000" i="1" dirty="0"/>
              <a:t>Materials Today: Proceedings</a:t>
            </a:r>
            <a:r>
              <a:rPr lang="en-US" sz="2000" dirty="0"/>
              <a:t>. </a:t>
            </a:r>
            <a:r>
              <a:rPr lang="en-US" sz="2000" dirty="0">
                <a:hlinkClick r:id="rId3"/>
              </a:rPr>
              <a:t>https://doi.org/10.1016/j.matpr.2021.01.161</a:t>
            </a: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20D55-AFE4-49F3-2FD3-570104A6A4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87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2209800"/>
            <a:ext cx="4038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Thank</a:t>
            </a:r>
            <a:r>
              <a:rPr sz="4400" spc="-25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IN" sz="4400" spc="-25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Y</a:t>
            </a:r>
            <a:r>
              <a:rPr sz="4400" dirty="0" err="1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ou</a:t>
            </a:r>
            <a:r>
              <a:rPr sz="4400" spc="-15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sz="4400" spc="-50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!</a:t>
            </a:r>
            <a:endParaRPr sz="4400" dirty="0">
              <a:solidFill>
                <a:srgbClr val="0000FF"/>
              </a:solidFill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D9D40-B01D-D091-54F5-F4F7762B0A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3967</Words>
  <Application>Microsoft Office PowerPoint</Application>
  <PresentationFormat>On-screen Show (4:3)</PresentationFormat>
  <Paragraphs>458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SimSun-ExtB</vt:lpstr>
      <vt:lpstr>Arial</vt:lpstr>
      <vt:lpstr>Arial MT</vt:lpstr>
      <vt:lpstr>Calibri</vt:lpstr>
      <vt:lpstr>Times New Roman</vt:lpstr>
      <vt:lpstr>Wingdings</vt:lpstr>
      <vt:lpstr>Office Theme</vt:lpstr>
      <vt:lpstr>UEE2818 – Project Phase - 2</vt:lpstr>
      <vt:lpstr>Objectives of the Project</vt:lpstr>
      <vt:lpstr>Problem Formulation &amp; Justification</vt:lpstr>
      <vt:lpstr>Problem Formulation &amp; Justification</vt:lpstr>
      <vt:lpstr>Block Diagram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Literature Review</vt:lpstr>
      <vt:lpstr>Literature Review</vt:lpstr>
      <vt:lpstr>Literature Review</vt:lpstr>
      <vt:lpstr>Literature Review</vt:lpstr>
      <vt:lpstr>Methodology / Work Flow</vt:lpstr>
      <vt:lpstr>Approaches Planned to Execute the Project</vt:lpstr>
      <vt:lpstr>Work completed in Phase 1</vt:lpstr>
      <vt:lpstr>Work completed in Phase 2</vt:lpstr>
      <vt:lpstr>Work completed in Phase 2</vt:lpstr>
      <vt:lpstr>Design Improvements</vt:lpstr>
      <vt:lpstr>Hardware Development</vt:lpstr>
      <vt:lpstr>Hardware Development</vt:lpstr>
      <vt:lpstr>Components used &amp; Justification of their selection </vt:lpstr>
      <vt:lpstr>Experimental Results</vt:lpstr>
      <vt:lpstr>Analyses of experimental results/data</vt:lpstr>
      <vt:lpstr>Financial Plan</vt:lpstr>
      <vt:lpstr>Mapping of the Project with SDGs</vt:lpstr>
      <vt:lpstr>Team Dynamics (includes team member contributions, team member recognition, team motivation)</vt:lpstr>
      <vt:lpstr>Team Dynamics (includes team member contributions, team member recognition, team motivation)</vt:lpstr>
      <vt:lpstr>Team Dynamics (includes team member contributions, team member recognition, team motivation)</vt:lpstr>
      <vt:lpstr>Innovation in the Project</vt:lpstr>
      <vt:lpstr>Impact of the Project</vt:lpstr>
      <vt:lpstr>Societal Impact of the Project</vt:lpstr>
      <vt:lpstr>Publications</vt:lpstr>
      <vt:lpstr>References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UEE2818 – Project Phase - 2</dc:title>
  <dc:creator>jegadheeshwaran</dc:creator>
  <cp:lastModifiedBy>Hp</cp:lastModifiedBy>
  <cp:revision>13</cp:revision>
  <dcterms:modified xsi:type="dcterms:W3CDTF">2026-03-03T16:42:16Z</dcterms:modified>
</cp:coreProperties>
</file>