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jpeg"/>
  <Override PartName="/ppt/media/image4.jpg" ContentType="image/jpeg"/>
  <Override PartName="/ppt/media/image6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4"/>
  </p:notesMasterIdLst>
  <p:sldIdLst>
    <p:sldId id="256" r:id="rId2"/>
    <p:sldId id="285" r:id="rId3"/>
    <p:sldId id="286" r:id="rId4"/>
    <p:sldId id="287" r:id="rId5"/>
    <p:sldId id="296" r:id="rId6"/>
    <p:sldId id="297" r:id="rId7"/>
    <p:sldId id="299" r:id="rId8"/>
    <p:sldId id="307" r:id="rId9"/>
    <p:sldId id="294" r:id="rId10"/>
    <p:sldId id="288" r:id="rId11"/>
    <p:sldId id="289" r:id="rId12"/>
    <p:sldId id="290" r:id="rId13"/>
    <p:sldId id="291" r:id="rId14"/>
    <p:sldId id="268" r:id="rId15"/>
    <p:sldId id="275" r:id="rId16"/>
    <p:sldId id="301" r:id="rId17"/>
    <p:sldId id="302" r:id="rId18"/>
    <p:sldId id="303" r:id="rId19"/>
    <p:sldId id="304" r:id="rId20"/>
    <p:sldId id="281" r:id="rId21"/>
    <p:sldId id="282" r:id="rId22"/>
    <p:sldId id="305" r:id="rId23"/>
    <p:sldId id="306" r:id="rId24"/>
    <p:sldId id="295" r:id="rId25"/>
    <p:sldId id="270" r:id="rId26"/>
    <p:sldId id="271" r:id="rId27"/>
    <p:sldId id="276" r:id="rId28"/>
    <p:sldId id="292" r:id="rId29"/>
    <p:sldId id="293" r:id="rId30"/>
    <p:sldId id="272" r:id="rId31"/>
    <p:sldId id="273" r:id="rId32"/>
    <p:sldId id="265" r:id="rId3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01" autoAdjust="0"/>
  </p:normalViewPr>
  <p:slideViewPr>
    <p:cSldViewPr>
      <p:cViewPr varScale="1">
        <p:scale>
          <a:sx n="72" d="100"/>
          <a:sy n="72" d="100"/>
        </p:scale>
        <p:origin x="1326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B7EBB-A614-47C9-B911-82675EBE0AD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878A15-1E64-4D2A-B5E2-4739CAD94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169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33529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A47CD-A4AB-45DD-BCA2-CEC1E6E3D107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rgbClr val="0000FF"/>
                </a:solidFill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3529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1CCF7-E620-40DB-85B6-E15D456C1843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rgbClr val="0000FF"/>
                </a:solidFill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3529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F93CA-C9FA-4763-A37E-19EC1011750A}" type="datetime1">
              <a:rPr lang="en-US" smtClean="0"/>
              <a:t>2/11/2026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rgbClr val="0000FF"/>
                </a:solidFill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3529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73B1C-11F6-46B0-BC87-2A10059939A8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rgbClr val="0000FF"/>
                </a:solidFill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0E200-E03E-4F37-9CCD-2D3CE1549818}" type="datetime1">
              <a:rPr lang="en-US" smtClean="0"/>
              <a:t>2/11/2026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rgbClr val="0000FF"/>
                </a:solidFill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182" y="6590014"/>
            <a:ext cx="7319645" cy="238125"/>
          </a:xfrm>
          <a:custGeom>
            <a:avLst/>
            <a:gdLst/>
            <a:ahLst/>
            <a:cxnLst/>
            <a:rect l="l" t="t" r="r" b="b"/>
            <a:pathLst>
              <a:path w="7319645" h="238125">
                <a:moveTo>
                  <a:pt x="7181905" y="0"/>
                </a:moveTo>
                <a:lnTo>
                  <a:pt x="0" y="0"/>
                </a:lnTo>
                <a:lnTo>
                  <a:pt x="0" y="237702"/>
                </a:lnTo>
                <a:lnTo>
                  <a:pt x="7319308" y="237702"/>
                </a:lnTo>
                <a:lnTo>
                  <a:pt x="7181905" y="0"/>
                </a:lnTo>
                <a:close/>
              </a:path>
            </a:pathLst>
          </a:custGeom>
          <a:solidFill>
            <a:srgbClr val="86BC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7182" y="6640957"/>
            <a:ext cx="7398384" cy="217170"/>
          </a:xfrm>
          <a:custGeom>
            <a:avLst/>
            <a:gdLst/>
            <a:ahLst/>
            <a:cxnLst/>
            <a:rect l="l" t="t" r="r" b="b"/>
            <a:pathLst>
              <a:path w="7398384" h="217170">
                <a:moveTo>
                  <a:pt x="7267828" y="0"/>
                </a:moveTo>
                <a:lnTo>
                  <a:pt x="0" y="0"/>
                </a:lnTo>
                <a:lnTo>
                  <a:pt x="0" y="217039"/>
                </a:lnTo>
                <a:lnTo>
                  <a:pt x="7397938" y="217039"/>
                </a:lnTo>
                <a:lnTo>
                  <a:pt x="7267828" y="0"/>
                </a:lnTo>
                <a:close/>
              </a:path>
            </a:pathLst>
          </a:custGeom>
          <a:solidFill>
            <a:srgbClr val="0047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826223" y="6343840"/>
            <a:ext cx="945515" cy="382270"/>
          </a:xfrm>
          <a:custGeom>
            <a:avLst/>
            <a:gdLst/>
            <a:ahLst/>
            <a:cxnLst/>
            <a:rect l="l" t="t" r="r" b="b"/>
            <a:pathLst>
              <a:path w="945515" h="382270">
                <a:moveTo>
                  <a:pt x="369366" y="93370"/>
                </a:moveTo>
                <a:lnTo>
                  <a:pt x="356209" y="46545"/>
                </a:lnTo>
                <a:lnTo>
                  <a:pt x="322122" y="18034"/>
                </a:lnTo>
                <a:lnTo>
                  <a:pt x="275145" y="3848"/>
                </a:lnTo>
                <a:lnTo>
                  <a:pt x="223316" y="0"/>
                </a:lnTo>
                <a:lnTo>
                  <a:pt x="162598" y="5029"/>
                </a:lnTo>
                <a:lnTo>
                  <a:pt x="114617" y="19824"/>
                </a:lnTo>
                <a:lnTo>
                  <a:pt x="79819" y="44005"/>
                </a:lnTo>
                <a:lnTo>
                  <a:pt x="58635" y="77139"/>
                </a:lnTo>
                <a:lnTo>
                  <a:pt x="51473" y="118846"/>
                </a:lnTo>
                <a:lnTo>
                  <a:pt x="54978" y="142849"/>
                </a:lnTo>
                <a:lnTo>
                  <a:pt x="66548" y="164477"/>
                </a:lnTo>
                <a:lnTo>
                  <a:pt x="87769" y="184505"/>
                </a:lnTo>
                <a:lnTo>
                  <a:pt x="120230" y="203733"/>
                </a:lnTo>
                <a:lnTo>
                  <a:pt x="189001" y="237693"/>
                </a:lnTo>
                <a:lnTo>
                  <a:pt x="201599" y="244322"/>
                </a:lnTo>
                <a:lnTo>
                  <a:pt x="212598" y="252552"/>
                </a:lnTo>
                <a:lnTo>
                  <a:pt x="220370" y="263956"/>
                </a:lnTo>
                <a:lnTo>
                  <a:pt x="223316" y="280136"/>
                </a:lnTo>
                <a:lnTo>
                  <a:pt x="218744" y="297510"/>
                </a:lnTo>
                <a:lnTo>
                  <a:pt x="206133" y="310908"/>
                </a:lnTo>
                <a:lnTo>
                  <a:pt x="187071" y="319532"/>
                </a:lnTo>
                <a:lnTo>
                  <a:pt x="163195" y="322580"/>
                </a:lnTo>
                <a:lnTo>
                  <a:pt x="144272" y="318211"/>
                </a:lnTo>
                <a:lnTo>
                  <a:pt x="127787" y="306666"/>
                </a:lnTo>
                <a:lnTo>
                  <a:pt x="116128" y="290360"/>
                </a:lnTo>
                <a:lnTo>
                  <a:pt x="111721" y="271653"/>
                </a:lnTo>
                <a:lnTo>
                  <a:pt x="111721" y="263156"/>
                </a:lnTo>
                <a:lnTo>
                  <a:pt x="0" y="263156"/>
                </a:lnTo>
                <a:lnTo>
                  <a:pt x="0" y="280136"/>
                </a:lnTo>
                <a:lnTo>
                  <a:pt x="1727" y="304012"/>
                </a:lnTo>
                <a:lnTo>
                  <a:pt x="18072" y="342214"/>
                </a:lnTo>
                <a:lnTo>
                  <a:pt x="56883" y="367690"/>
                </a:lnTo>
                <a:lnTo>
                  <a:pt x="121323" y="380415"/>
                </a:lnTo>
                <a:lnTo>
                  <a:pt x="163195" y="382003"/>
                </a:lnTo>
                <a:lnTo>
                  <a:pt x="224853" y="376097"/>
                </a:lnTo>
                <a:lnTo>
                  <a:pt x="274955" y="359194"/>
                </a:lnTo>
                <a:lnTo>
                  <a:pt x="312254" y="332498"/>
                </a:lnTo>
                <a:lnTo>
                  <a:pt x="318795" y="322580"/>
                </a:lnTo>
                <a:lnTo>
                  <a:pt x="335534" y="297256"/>
                </a:lnTo>
                <a:lnTo>
                  <a:pt x="343560" y="254673"/>
                </a:lnTo>
                <a:lnTo>
                  <a:pt x="338874" y="230797"/>
                </a:lnTo>
                <a:lnTo>
                  <a:pt x="325348" y="210108"/>
                </a:lnTo>
                <a:lnTo>
                  <a:pt x="303771" y="192595"/>
                </a:lnTo>
                <a:lnTo>
                  <a:pt x="206159" y="144310"/>
                </a:lnTo>
                <a:lnTo>
                  <a:pt x="188556" y="136359"/>
                </a:lnTo>
                <a:lnTo>
                  <a:pt x="175006" y="125209"/>
                </a:lnTo>
                <a:lnTo>
                  <a:pt x="166281" y="110883"/>
                </a:lnTo>
                <a:lnTo>
                  <a:pt x="163195" y="93370"/>
                </a:lnTo>
                <a:lnTo>
                  <a:pt x="167627" y="80911"/>
                </a:lnTo>
                <a:lnTo>
                  <a:pt x="179324" y="70027"/>
                </a:lnTo>
                <a:lnTo>
                  <a:pt x="195846" y="62344"/>
                </a:lnTo>
                <a:lnTo>
                  <a:pt x="214795" y="59423"/>
                </a:lnTo>
                <a:lnTo>
                  <a:pt x="232346" y="62471"/>
                </a:lnTo>
                <a:lnTo>
                  <a:pt x="245910" y="71094"/>
                </a:lnTo>
                <a:lnTo>
                  <a:pt x="254660" y="84493"/>
                </a:lnTo>
                <a:lnTo>
                  <a:pt x="257759" y="101866"/>
                </a:lnTo>
                <a:lnTo>
                  <a:pt x="257759" y="110350"/>
                </a:lnTo>
                <a:lnTo>
                  <a:pt x="369366" y="110350"/>
                </a:lnTo>
                <a:lnTo>
                  <a:pt x="369366" y="93370"/>
                </a:lnTo>
                <a:close/>
              </a:path>
              <a:path w="945515" h="382270">
                <a:moveTo>
                  <a:pt x="609968" y="93370"/>
                </a:moveTo>
                <a:lnTo>
                  <a:pt x="599554" y="59423"/>
                </a:lnTo>
                <a:lnTo>
                  <a:pt x="595604" y="46545"/>
                </a:lnTo>
                <a:lnTo>
                  <a:pt x="559498" y="18034"/>
                </a:lnTo>
                <a:lnTo>
                  <a:pt x="512102" y="3848"/>
                </a:lnTo>
                <a:lnTo>
                  <a:pt x="463931" y="0"/>
                </a:lnTo>
                <a:lnTo>
                  <a:pt x="428332" y="1460"/>
                </a:lnTo>
                <a:lnTo>
                  <a:pt x="398386" y="5308"/>
                </a:lnTo>
                <a:lnTo>
                  <a:pt x="373291" y="10744"/>
                </a:lnTo>
                <a:lnTo>
                  <a:pt x="352196" y="16967"/>
                </a:lnTo>
                <a:lnTo>
                  <a:pt x="364807" y="31292"/>
                </a:lnTo>
                <a:lnTo>
                  <a:pt x="375793" y="48806"/>
                </a:lnTo>
                <a:lnTo>
                  <a:pt x="383578" y="69494"/>
                </a:lnTo>
                <a:lnTo>
                  <a:pt x="386524" y="93370"/>
                </a:lnTo>
                <a:lnTo>
                  <a:pt x="386524" y="101866"/>
                </a:lnTo>
                <a:lnTo>
                  <a:pt x="378002" y="110350"/>
                </a:lnTo>
                <a:lnTo>
                  <a:pt x="378002" y="118846"/>
                </a:lnTo>
                <a:lnTo>
                  <a:pt x="283438" y="118846"/>
                </a:lnTo>
                <a:lnTo>
                  <a:pt x="288137" y="142849"/>
                </a:lnTo>
                <a:lnTo>
                  <a:pt x="301713" y="164477"/>
                </a:lnTo>
                <a:lnTo>
                  <a:pt x="323329" y="184505"/>
                </a:lnTo>
                <a:lnTo>
                  <a:pt x="352196" y="203733"/>
                </a:lnTo>
                <a:lnTo>
                  <a:pt x="420966" y="237693"/>
                </a:lnTo>
                <a:lnTo>
                  <a:pt x="433565" y="244322"/>
                </a:lnTo>
                <a:lnTo>
                  <a:pt x="444563" y="252552"/>
                </a:lnTo>
                <a:lnTo>
                  <a:pt x="452335" y="263956"/>
                </a:lnTo>
                <a:lnTo>
                  <a:pt x="455282" y="280136"/>
                </a:lnTo>
                <a:lnTo>
                  <a:pt x="452069" y="297510"/>
                </a:lnTo>
                <a:lnTo>
                  <a:pt x="442417" y="310908"/>
                </a:lnTo>
                <a:lnTo>
                  <a:pt x="426326" y="319532"/>
                </a:lnTo>
                <a:lnTo>
                  <a:pt x="403809" y="322580"/>
                </a:lnTo>
                <a:lnTo>
                  <a:pt x="381215" y="318211"/>
                </a:lnTo>
                <a:lnTo>
                  <a:pt x="365086" y="306666"/>
                </a:lnTo>
                <a:lnTo>
                  <a:pt x="355422" y="290360"/>
                </a:lnTo>
                <a:lnTo>
                  <a:pt x="352196" y="271653"/>
                </a:lnTo>
                <a:lnTo>
                  <a:pt x="352196" y="263156"/>
                </a:lnTo>
                <a:lnTo>
                  <a:pt x="347764" y="288493"/>
                </a:lnTo>
                <a:lnTo>
                  <a:pt x="336080" y="313042"/>
                </a:lnTo>
                <a:lnTo>
                  <a:pt x="319544" y="335991"/>
                </a:lnTo>
                <a:lnTo>
                  <a:pt x="300596" y="356552"/>
                </a:lnTo>
                <a:lnTo>
                  <a:pt x="292074" y="356552"/>
                </a:lnTo>
                <a:lnTo>
                  <a:pt x="283438" y="365036"/>
                </a:lnTo>
                <a:lnTo>
                  <a:pt x="305739" y="371271"/>
                </a:lnTo>
                <a:lnTo>
                  <a:pt x="332867" y="376707"/>
                </a:lnTo>
                <a:lnTo>
                  <a:pt x="363207" y="380542"/>
                </a:lnTo>
                <a:lnTo>
                  <a:pt x="395160" y="382003"/>
                </a:lnTo>
                <a:lnTo>
                  <a:pt x="456819" y="376097"/>
                </a:lnTo>
                <a:lnTo>
                  <a:pt x="506920" y="359194"/>
                </a:lnTo>
                <a:lnTo>
                  <a:pt x="544220" y="332498"/>
                </a:lnTo>
                <a:lnTo>
                  <a:pt x="550760" y="322580"/>
                </a:lnTo>
                <a:lnTo>
                  <a:pt x="567499" y="297256"/>
                </a:lnTo>
                <a:lnTo>
                  <a:pt x="575525" y="254673"/>
                </a:lnTo>
                <a:lnTo>
                  <a:pt x="572173" y="230797"/>
                </a:lnTo>
                <a:lnTo>
                  <a:pt x="561581" y="210108"/>
                </a:lnTo>
                <a:lnTo>
                  <a:pt x="542925" y="192595"/>
                </a:lnTo>
                <a:lnTo>
                  <a:pt x="515404" y="178269"/>
                </a:lnTo>
                <a:lnTo>
                  <a:pt x="446646" y="144310"/>
                </a:lnTo>
                <a:lnTo>
                  <a:pt x="429120" y="136359"/>
                </a:lnTo>
                <a:lnTo>
                  <a:pt x="415594" y="125209"/>
                </a:lnTo>
                <a:lnTo>
                  <a:pt x="406882" y="110883"/>
                </a:lnTo>
                <a:lnTo>
                  <a:pt x="403809" y="93370"/>
                </a:lnTo>
                <a:lnTo>
                  <a:pt x="406882" y="80911"/>
                </a:lnTo>
                <a:lnTo>
                  <a:pt x="415594" y="70027"/>
                </a:lnTo>
                <a:lnTo>
                  <a:pt x="429120" y="62344"/>
                </a:lnTo>
                <a:lnTo>
                  <a:pt x="446646" y="59423"/>
                </a:lnTo>
                <a:lnTo>
                  <a:pt x="469239" y="62471"/>
                </a:lnTo>
                <a:lnTo>
                  <a:pt x="485355" y="71094"/>
                </a:lnTo>
                <a:lnTo>
                  <a:pt x="495020" y="84493"/>
                </a:lnTo>
                <a:lnTo>
                  <a:pt x="498246" y="101866"/>
                </a:lnTo>
                <a:lnTo>
                  <a:pt x="489610" y="110350"/>
                </a:lnTo>
                <a:lnTo>
                  <a:pt x="609968" y="110350"/>
                </a:lnTo>
                <a:lnTo>
                  <a:pt x="609968" y="93370"/>
                </a:lnTo>
                <a:close/>
              </a:path>
              <a:path w="945515" h="382270">
                <a:moveTo>
                  <a:pt x="945019" y="93370"/>
                </a:moveTo>
                <a:lnTo>
                  <a:pt x="937361" y="53708"/>
                </a:lnTo>
                <a:lnTo>
                  <a:pt x="916025" y="24396"/>
                </a:lnTo>
                <a:lnTo>
                  <a:pt x="883399" y="6235"/>
                </a:lnTo>
                <a:lnTo>
                  <a:pt x="841933" y="0"/>
                </a:lnTo>
                <a:lnTo>
                  <a:pt x="802030" y="4775"/>
                </a:lnTo>
                <a:lnTo>
                  <a:pt x="761352" y="19100"/>
                </a:lnTo>
                <a:lnTo>
                  <a:pt x="722287" y="42976"/>
                </a:lnTo>
                <a:lnTo>
                  <a:pt x="687247" y="76403"/>
                </a:lnTo>
                <a:lnTo>
                  <a:pt x="704405" y="8483"/>
                </a:lnTo>
                <a:lnTo>
                  <a:pt x="575525" y="8483"/>
                </a:lnTo>
                <a:lnTo>
                  <a:pt x="575525" y="16967"/>
                </a:lnTo>
                <a:lnTo>
                  <a:pt x="596773" y="31292"/>
                </a:lnTo>
                <a:lnTo>
                  <a:pt x="609917" y="48806"/>
                </a:lnTo>
                <a:lnTo>
                  <a:pt x="616623" y="69494"/>
                </a:lnTo>
                <a:lnTo>
                  <a:pt x="618490" y="93370"/>
                </a:lnTo>
                <a:lnTo>
                  <a:pt x="618490" y="118846"/>
                </a:lnTo>
                <a:lnTo>
                  <a:pt x="549846" y="118846"/>
                </a:lnTo>
                <a:lnTo>
                  <a:pt x="548360" y="131584"/>
                </a:lnTo>
                <a:lnTo>
                  <a:pt x="544449" y="144310"/>
                </a:lnTo>
                <a:lnTo>
                  <a:pt x="538911" y="157048"/>
                </a:lnTo>
                <a:lnTo>
                  <a:pt x="532561" y="169773"/>
                </a:lnTo>
                <a:lnTo>
                  <a:pt x="555155" y="189014"/>
                </a:lnTo>
                <a:lnTo>
                  <a:pt x="571284" y="209042"/>
                </a:lnTo>
                <a:lnTo>
                  <a:pt x="580948" y="230670"/>
                </a:lnTo>
                <a:lnTo>
                  <a:pt x="584161" y="254673"/>
                </a:lnTo>
                <a:lnTo>
                  <a:pt x="580948" y="284911"/>
                </a:lnTo>
                <a:lnTo>
                  <a:pt x="571284" y="311975"/>
                </a:lnTo>
                <a:lnTo>
                  <a:pt x="555155" y="335851"/>
                </a:lnTo>
                <a:lnTo>
                  <a:pt x="532561" y="356552"/>
                </a:lnTo>
                <a:lnTo>
                  <a:pt x="524040" y="365036"/>
                </a:lnTo>
                <a:lnTo>
                  <a:pt x="609968" y="365036"/>
                </a:lnTo>
                <a:lnTo>
                  <a:pt x="661454" y="178269"/>
                </a:lnTo>
                <a:lnTo>
                  <a:pt x="676338" y="140868"/>
                </a:lnTo>
                <a:lnTo>
                  <a:pt x="696874" y="108229"/>
                </a:lnTo>
                <a:lnTo>
                  <a:pt x="725474" y="85153"/>
                </a:lnTo>
                <a:lnTo>
                  <a:pt x="764527" y="76403"/>
                </a:lnTo>
                <a:lnTo>
                  <a:pt x="782129" y="78130"/>
                </a:lnTo>
                <a:lnTo>
                  <a:pt x="795693" y="83832"/>
                </a:lnTo>
                <a:lnTo>
                  <a:pt x="804405" y="94310"/>
                </a:lnTo>
                <a:lnTo>
                  <a:pt x="807491" y="110350"/>
                </a:lnTo>
                <a:lnTo>
                  <a:pt x="807364" y="118186"/>
                </a:lnTo>
                <a:lnTo>
                  <a:pt x="806424" y="128397"/>
                </a:lnTo>
                <a:lnTo>
                  <a:pt x="803897" y="140208"/>
                </a:lnTo>
                <a:lnTo>
                  <a:pt x="798969" y="152806"/>
                </a:lnTo>
                <a:lnTo>
                  <a:pt x="747369" y="322580"/>
                </a:lnTo>
                <a:lnTo>
                  <a:pt x="738733" y="348056"/>
                </a:lnTo>
                <a:lnTo>
                  <a:pt x="738733" y="365036"/>
                </a:lnTo>
                <a:lnTo>
                  <a:pt x="867613" y="365036"/>
                </a:lnTo>
                <a:lnTo>
                  <a:pt x="927735" y="161290"/>
                </a:lnTo>
                <a:lnTo>
                  <a:pt x="936371" y="127330"/>
                </a:lnTo>
                <a:lnTo>
                  <a:pt x="941374" y="119634"/>
                </a:lnTo>
                <a:lnTo>
                  <a:pt x="943940" y="110350"/>
                </a:lnTo>
                <a:lnTo>
                  <a:pt x="944880" y="101066"/>
                </a:lnTo>
                <a:lnTo>
                  <a:pt x="945019" y="93370"/>
                </a:lnTo>
                <a:close/>
              </a:path>
            </a:pathLst>
          </a:custGeom>
          <a:solidFill>
            <a:srgbClr val="0047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09369" y="324357"/>
            <a:ext cx="5525261" cy="7938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33529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39" y="1168654"/>
            <a:ext cx="8072120" cy="2305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04F4F-3C17-404B-AA4D-08BF21146FAC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934200" y="127436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b="1">
                <a:solidFill>
                  <a:srgbClr val="0000FF"/>
                </a:solidFill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ecoinf.2024.102362" TargetMode="External"/><Relationship Id="rId2" Type="http://schemas.openxmlformats.org/officeDocument/2006/relationships/hyperlink" Target="https://doi.org/10.1016/j.gecco.2025.e0374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16/j.matpr.2021.01.161" TargetMode="External"/><Relationship Id="rId4" Type="http://schemas.openxmlformats.org/officeDocument/2006/relationships/hyperlink" Target="https://doi.org/10.1016/j.ecoinf.2020.101065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32640"/>
            <a:ext cx="9144000" cy="11253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-28523" y="1716646"/>
            <a:ext cx="9037320" cy="28084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7560" marR="5080" indent="-784860" algn="ctr">
              <a:spcBef>
                <a:spcPts val="100"/>
              </a:spcBef>
            </a:pPr>
            <a:r>
              <a:rPr lang="en-US" sz="3600" b="1" dirty="0" smtClean="0">
                <a:solidFill>
                  <a:srgbClr val="3352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AND IMPLEMENTATION OF AN  AI BASED TECHNIQUE FOR HUMAN ELEPHANT CONFLICT MITIGATION</a:t>
            </a:r>
            <a:endParaRPr lang="en-US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97560" marR="5080" indent="-784860" algn="ctr">
              <a:lnSpc>
                <a:spcPct val="100000"/>
              </a:lnSpc>
              <a:spcBef>
                <a:spcPts val="100"/>
              </a:spcBef>
            </a:pPr>
            <a:endParaRPr lang="en-US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97560" marR="5080" indent="-784860" algn="ctr">
              <a:lnSpc>
                <a:spcPct val="100000"/>
              </a:lnSpc>
              <a:spcBef>
                <a:spcPts val="100"/>
              </a:spcBef>
            </a:pP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-20639" y="-9932"/>
            <a:ext cx="9144000" cy="1752600"/>
          </a:xfrm>
          <a:custGeom>
            <a:avLst/>
            <a:gdLst/>
            <a:ahLst/>
            <a:cxnLst/>
            <a:rect l="l" t="t" r="r" b="b"/>
            <a:pathLst>
              <a:path w="9144000" h="1752600">
                <a:moveTo>
                  <a:pt x="9144000" y="0"/>
                </a:moveTo>
                <a:lnTo>
                  <a:pt x="0" y="0"/>
                </a:lnTo>
                <a:lnTo>
                  <a:pt x="0" y="1752600"/>
                </a:lnTo>
                <a:lnTo>
                  <a:pt x="9144000" y="1752600"/>
                </a:lnTo>
                <a:lnTo>
                  <a:pt x="9144000" y="0"/>
                </a:lnTo>
                <a:close/>
              </a:path>
            </a:pathLst>
          </a:custGeom>
          <a:solidFill>
            <a:srgbClr val="3352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09369" y="324357"/>
            <a:ext cx="5938900" cy="582852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7622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UEE2</a:t>
            </a:r>
            <a:r>
              <a:rPr lang="en-IN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r>
              <a:rPr spc="-25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pc="-15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spc="-35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</a:t>
            </a:r>
            <a:r>
              <a:rPr spc="-2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pc="-5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pc="-5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pc="-5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2764" y="1241805"/>
            <a:ext cx="2957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sz="2400" b="1" spc="-95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r>
              <a:rPr lang="en-IN" sz="2400" b="1" spc="-1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b="1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- 2</a:t>
            </a:r>
            <a:endParaRPr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0912" y="3902998"/>
            <a:ext cx="7918450" cy="1988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2000" b="1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</a:t>
            </a:r>
            <a:r>
              <a:rPr sz="2000" b="1" spc="-2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b="1" spc="-1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</a:p>
          <a:p>
            <a:pPr algn="ctr">
              <a:spcBef>
                <a:spcPts val="105"/>
              </a:spcBef>
            </a:pPr>
            <a:r>
              <a:rPr lang="en-IN" sz="2000" b="1" dirty="0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G.G </a:t>
            </a:r>
            <a:r>
              <a:rPr lang="en-IN" sz="2000" b="1" dirty="0" err="1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Jegadheeshwaran</a:t>
            </a:r>
            <a:r>
              <a:rPr lang="en-IN" sz="2000" b="1" spc="-10" dirty="0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(3122213001040),</a:t>
            </a:r>
            <a:r>
              <a:rPr lang="en-IN" sz="2000" b="1" spc="-145" dirty="0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IN" sz="2000" b="1" dirty="0" err="1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Hamebantei</a:t>
            </a:r>
            <a:r>
              <a:rPr lang="en-IN" sz="2000" b="1" dirty="0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K  </a:t>
            </a:r>
            <a:r>
              <a:rPr lang="en-IN" sz="2000" b="1" dirty="0" err="1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Tangsang</a:t>
            </a:r>
            <a:r>
              <a:rPr lang="en-IN" sz="2000" b="1" spc="-10" dirty="0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(3122213001304)</a:t>
            </a:r>
            <a:r>
              <a:rPr sz="2000" b="1" spc="-10" dirty="0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000" b="1" spc="-145" dirty="0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2000" b="1" spc="-145" dirty="0">
              <a:solidFill>
                <a:srgbClr val="B11E5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105"/>
              </a:spcBef>
            </a:pPr>
            <a:r>
              <a:rPr lang="en-IN" sz="2000" b="1" dirty="0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Arnab </a:t>
            </a:r>
            <a:r>
              <a:rPr lang="en-IN" sz="2000" b="1" dirty="0" err="1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Sheoran</a:t>
            </a:r>
            <a:r>
              <a:rPr lang="en-IN" sz="2000" b="1" spc="-10" dirty="0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(3122213001801)</a:t>
            </a:r>
            <a:endParaRPr lang="en-I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" algn="ctr">
              <a:lnSpc>
                <a:spcPct val="100000"/>
              </a:lnSpc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251C75-9B5F-27D0-6893-066803CDE44E}"/>
              </a:ext>
            </a:extLst>
          </p:cNvPr>
          <p:cNvSpPr txBox="1"/>
          <p:nvPr/>
        </p:nvSpPr>
        <p:spPr>
          <a:xfrm>
            <a:off x="6934200" y="3902726"/>
            <a:ext cx="2009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" algn="ctr">
              <a:lnSpc>
                <a:spcPct val="100000"/>
              </a:lnSpc>
            </a:pPr>
            <a:r>
              <a:rPr lang="en-IN" sz="2000" b="1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Batch</a:t>
            </a:r>
            <a:r>
              <a:rPr lang="en-IN" sz="2000" b="1" spc="-1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No:</a:t>
            </a:r>
            <a:r>
              <a:rPr lang="en-IN" sz="2000" b="1" spc="-114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b="1" spc="-25" dirty="0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A2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37336A-921E-4947-7B33-153C3F971D98}"/>
              </a:ext>
            </a:extLst>
          </p:cNvPr>
          <p:cNvSpPr txBox="1"/>
          <p:nvPr/>
        </p:nvSpPr>
        <p:spPr>
          <a:xfrm>
            <a:off x="32327" y="5731178"/>
            <a:ext cx="79184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Guide (Internal):</a:t>
            </a:r>
            <a:r>
              <a:rPr lang="en-US" sz="1800" b="1" spc="-3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spc="-10" dirty="0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 </a:t>
            </a:r>
            <a:r>
              <a:rPr lang="en-US" b="1" spc="-10" dirty="0" err="1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Rajasi</a:t>
            </a:r>
            <a:r>
              <a:rPr lang="en-US" b="1" spc="-10" dirty="0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Mandal</a:t>
            </a:r>
            <a:r>
              <a:rPr lang="en-US" sz="1800" b="1" spc="-10" dirty="0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spc="-10" dirty="0" err="1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Asst</a:t>
            </a:r>
            <a:r>
              <a:rPr lang="en-US" b="1" spc="-10" dirty="0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spc="-10" dirty="0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Prof./EEE, SSNCE</a:t>
            </a:r>
          </a:p>
          <a:p>
            <a:pPr algn="l"/>
            <a:r>
              <a:rPr lang="en-US" b="1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Co-Supervisor(Internal)</a:t>
            </a:r>
            <a:r>
              <a:rPr lang="en-US" sz="1800" b="1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800" b="1" spc="-3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spc="-10" dirty="0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 </a:t>
            </a:r>
            <a:r>
              <a:rPr lang="en-US" b="1" spc="-10" dirty="0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R. </a:t>
            </a:r>
            <a:r>
              <a:rPr lang="en-US" b="1" spc="-10" dirty="0" err="1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Jayaparvathy</a:t>
            </a:r>
            <a:r>
              <a:rPr lang="en-US" sz="1800" b="1" spc="-10" dirty="0" smtClean="0">
                <a:solidFill>
                  <a:srgbClr val="B11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/Prof./EEE, SSNCE </a:t>
            </a:r>
          </a:p>
          <a:p>
            <a:pPr algn="l"/>
            <a:endParaRPr lang="en-US" sz="1800" b="1" spc="-10" dirty="0">
              <a:solidFill>
                <a:srgbClr val="B11E5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5B58EC-C248-6FEB-4636-7B59BAEB51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369" y="324357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Objectives of the Project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39" y="1168654"/>
            <a:ext cx="8072120" cy="5232202"/>
          </a:xfrm>
        </p:spPr>
        <p:txBody>
          <a:bodyPr/>
          <a:lstStyle/>
          <a:p>
            <a:pPr marL="457200" indent="-457200" algn="just">
              <a:buAutoNum type="arabicPeriod"/>
            </a:pPr>
            <a:r>
              <a:rPr lang="en-US" sz="2000" dirty="0"/>
              <a:t>To develop an AI-based real-time system that accurately detects elephant using advanced deep learning techniques</a:t>
            </a:r>
            <a:r>
              <a:rPr lang="en-US" sz="2000" dirty="0"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AutoNum type="arabicPeriod"/>
            </a:pPr>
            <a:endParaRPr lang="en-US" sz="2000" dirty="0"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000" dirty="0"/>
              <a:t>To reduce human–elephant conflict by providing early warning alerts before elephants enter human-populated areas.</a:t>
            </a:r>
            <a:endParaRPr lang="en-US" sz="2000" dirty="0"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endParaRPr lang="en-US" sz="2000" dirty="0"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000" dirty="0"/>
              <a:t>To implement an integrated alert mechanism using an alarm buzzer and mobile notifications for immediate response</a:t>
            </a:r>
            <a:r>
              <a:rPr lang="en-US" sz="2000" dirty="0"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AutoNum type="arabicPeriod"/>
            </a:pPr>
            <a:endParaRPr lang="en-US" sz="2000" dirty="0"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000" dirty="0">
                <a:cs typeface="Times New Roman" panose="02020603050405020304" pitchFamily="18" charset="0"/>
              </a:rPr>
              <a:t> To deploy the detection system on an edge-computing platform to achieve low-latency and offline-capable operation.</a:t>
            </a:r>
          </a:p>
          <a:p>
            <a:pPr marL="457200" indent="-457200" algn="just">
              <a:buAutoNum type="arabicPeriod"/>
            </a:pPr>
            <a:endParaRPr lang="en-US" sz="2000" dirty="0"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000" dirty="0">
                <a:cs typeface="Times New Roman" panose="02020603050405020304" pitchFamily="18" charset="0"/>
              </a:rPr>
              <a:t> To ensure reliable performance of the system under varying environmental and lighting conditions.</a:t>
            </a:r>
          </a:p>
          <a:p>
            <a:pPr marL="457200" indent="-457200" algn="just">
              <a:buAutoNum type="arabicPeriod"/>
            </a:pPr>
            <a:endParaRPr lang="en-US" sz="2000" dirty="0"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000" dirty="0">
                <a:cs typeface="Times New Roman" panose="02020603050405020304" pitchFamily="18" charset="0"/>
              </a:rPr>
              <a:t> To design a scalable and cost-effective solution suitable for large-scale deployment in forest-border regions.</a:t>
            </a:r>
            <a:endParaRPr lang="en-IN" sz="2000" dirty="0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278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460" y="0"/>
            <a:ext cx="7848599" cy="984885"/>
          </a:xfrm>
        </p:spPr>
        <p:txBody>
          <a:bodyPr/>
          <a:lstStyle/>
          <a:p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Problem Formulation &amp; Justification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531871"/>
            <a:ext cx="8587931" cy="6093976"/>
          </a:xfrm>
        </p:spPr>
        <p:txBody>
          <a:bodyPr/>
          <a:lstStyle/>
          <a:p>
            <a:pPr algn="just"/>
            <a:r>
              <a:rPr lang="en-US" sz="1800" b="1" dirty="0"/>
              <a:t>PROBLEM:</a:t>
            </a:r>
          </a:p>
          <a:p>
            <a:pPr marL="342900" indent="-342900" algn="just">
              <a:buAutoNum type="arabicPeriod"/>
            </a:pPr>
            <a:r>
              <a:rPr lang="en-US" sz="1800" dirty="0"/>
              <a:t>Increasing incidents of human–elephant conflict due to habitat loss and human encroachment have resulted in significant threats to human life, agriculture, and wildlife conservation.</a:t>
            </a:r>
          </a:p>
          <a:p>
            <a:pPr marL="342900" indent="-342900" algn="just">
              <a:buAutoNum type="arabicPeriod"/>
            </a:pPr>
            <a:endParaRPr lang="en-US" sz="1800" dirty="0"/>
          </a:p>
          <a:p>
            <a:pPr marL="342900" indent="-342900" algn="just">
              <a:buAutoNum type="arabicPeriod"/>
            </a:pPr>
            <a:r>
              <a:rPr lang="en-US" sz="1800" dirty="0"/>
              <a:t> Existing mitigation methods such as manual patrolling, fencing, and conventional alarm systems are reactive, labor-intensive, and often fail to provide timely warnings.</a:t>
            </a:r>
          </a:p>
          <a:p>
            <a:pPr marL="342900" indent="-342900" algn="just">
              <a:buAutoNum type="arabicPeriod"/>
            </a:pPr>
            <a:endParaRPr lang="en-US" sz="1800" dirty="0"/>
          </a:p>
          <a:p>
            <a:pPr marL="342900" indent="-342900" algn="just">
              <a:buFontTx/>
              <a:buAutoNum type="arabicPeriod"/>
            </a:pPr>
            <a:r>
              <a:rPr lang="en-US" sz="1800" dirty="0"/>
              <a:t> There is a lack of an automated, real-time, and intelligent monitoring system capable of accurately detecting elephants and issuing immediate alerts in forest-border regions.</a:t>
            </a:r>
          </a:p>
          <a:p>
            <a:pPr algn="just"/>
            <a:endParaRPr lang="en-US" sz="1800" b="1" dirty="0"/>
          </a:p>
          <a:p>
            <a:pPr algn="just"/>
            <a:r>
              <a:rPr lang="en-US" sz="1800" b="1" dirty="0"/>
              <a:t>SOLUTION:</a:t>
            </a:r>
          </a:p>
          <a:p>
            <a:pPr marL="342900" indent="-342900" algn="just">
              <a:buAutoNum type="arabicPeriod"/>
            </a:pPr>
            <a:r>
              <a:rPr lang="en-US" sz="1800" dirty="0"/>
              <a:t>An AI-based elephant detection and alert system enables early warning, thereby reducing casualties, crop damage, and unsafe human–elephant encounters.</a:t>
            </a:r>
          </a:p>
          <a:p>
            <a:pPr marL="342900" indent="-342900" algn="just">
              <a:buAutoNum type="arabicPeriod"/>
            </a:pPr>
            <a:endParaRPr lang="en-US" sz="1800" dirty="0"/>
          </a:p>
          <a:p>
            <a:pPr marL="342900" indent="-342900" algn="just">
              <a:buAutoNum type="arabicPeriod"/>
            </a:pPr>
            <a:r>
              <a:rPr lang="en-US" sz="1800" dirty="0"/>
              <a:t> Deploying the system on an edge-computing platform ensures low latency, real-time operation, and functionality in remote areas with limited internet connectivity.</a:t>
            </a:r>
          </a:p>
          <a:p>
            <a:pPr marL="342900" indent="-342900" algn="just">
              <a:buAutoNum type="arabicPeriod"/>
            </a:pPr>
            <a:endParaRPr lang="en-US" sz="1800" dirty="0"/>
          </a:p>
          <a:p>
            <a:pPr marL="342900" indent="-342900" algn="just">
              <a:buAutoNum type="arabicPeriod"/>
            </a:pPr>
            <a:r>
              <a:rPr lang="en-US" sz="1800" dirty="0"/>
              <a:t> The proposed solution is cost-effective, scalable, and supports long-term wildlife conservation while enhancing public safety and forest management efficiency.</a:t>
            </a:r>
            <a:endParaRPr lang="en-IN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568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368" y="111137"/>
            <a:ext cx="5525261" cy="492443"/>
          </a:xfrm>
        </p:spPr>
        <p:txBody>
          <a:bodyPr/>
          <a:lstStyle/>
          <a:p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Block Diagram of the Project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97FD4D-5F96-B7FB-678C-568DC3F05D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"/>
          <a:stretch/>
        </p:blipFill>
        <p:spPr>
          <a:xfrm>
            <a:off x="690285" y="1295400"/>
            <a:ext cx="7763426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059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368" y="47880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Explanation of the Project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38" y="619878"/>
            <a:ext cx="8072120" cy="6771084"/>
          </a:xfrm>
        </p:spPr>
        <p:txBody>
          <a:bodyPr/>
          <a:lstStyle/>
          <a:p>
            <a:r>
              <a:rPr lang="en-IN" b="1" dirty="0"/>
              <a:t>Jetson Nano:</a:t>
            </a:r>
          </a:p>
          <a:p>
            <a:pPr marL="457200" indent="-457200" algn="just">
              <a:buAutoNum type="arabicPeriod"/>
            </a:pPr>
            <a:r>
              <a:rPr lang="en-US" dirty="0"/>
              <a:t>Jetson Nano is a small, powerful AI computer developed by NVIDIA.</a:t>
            </a:r>
          </a:p>
          <a:p>
            <a:pPr marL="457200" indent="-457200" algn="just">
              <a:buAutoNum type="arabicPeriod"/>
            </a:pPr>
            <a:endParaRPr lang="en-US" dirty="0"/>
          </a:p>
          <a:p>
            <a:pPr marL="457200" indent="-457200" algn="just">
              <a:buAutoNum type="arabicPeriod"/>
            </a:pPr>
            <a:r>
              <a:rPr lang="en-US" dirty="0"/>
              <a:t> It is designed to run artificial intelligence and deep learning models on real-time data.</a:t>
            </a:r>
          </a:p>
          <a:p>
            <a:pPr marL="457200" indent="-457200" algn="just">
              <a:buAutoNum type="arabicPeriod"/>
            </a:pPr>
            <a:endParaRPr lang="en-US" dirty="0"/>
          </a:p>
          <a:p>
            <a:pPr marL="457200" indent="-457200" algn="just">
              <a:buAutoNum type="arabicPeriod"/>
            </a:pPr>
            <a:r>
              <a:rPr lang="en-US" dirty="0"/>
              <a:t> It works like a mini computer but is optimized for AI tasks such as image and video processing</a:t>
            </a:r>
            <a:r>
              <a:rPr lang="en-US" dirty="0" smtClean="0"/>
              <a:t>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FontTx/>
              <a:buAutoNum type="arabicPeriod"/>
            </a:pPr>
            <a:r>
              <a:rPr lang="en-US" dirty="0"/>
              <a:t> Low latency, meaning alerts are generated quickly</a:t>
            </a:r>
            <a:r>
              <a:rPr lang="en-US" dirty="0" smtClean="0"/>
              <a:t>.</a:t>
            </a:r>
          </a:p>
          <a:p>
            <a:pPr marL="457200" indent="-457200" algn="just">
              <a:buFontTx/>
              <a:buAutoNum type="arabicPeriod"/>
            </a:pPr>
            <a:endParaRPr lang="en-US" dirty="0" smtClean="0"/>
          </a:p>
          <a:p>
            <a:pPr marL="457200" indent="-457200" algn="just">
              <a:buFontTx/>
              <a:buAutoNum type="arabicPeriod"/>
            </a:pPr>
            <a:r>
              <a:rPr lang="en-US" dirty="0"/>
              <a:t> Offline capability, so the system works even without internet connectivity</a:t>
            </a:r>
            <a:r>
              <a:rPr lang="en-US" dirty="0" smtClean="0"/>
              <a:t>.</a:t>
            </a:r>
          </a:p>
          <a:p>
            <a:pPr marL="457200" indent="-457200" algn="just">
              <a:buFontTx/>
              <a:buAutoNum type="arabicPeriod"/>
            </a:pPr>
            <a:endParaRPr lang="en-US" dirty="0" smtClean="0"/>
          </a:p>
          <a:p>
            <a:pPr marL="457200" indent="-457200" algn="just">
              <a:buFontTx/>
              <a:buAutoNum type="arabicPeriod"/>
            </a:pPr>
            <a:r>
              <a:rPr lang="en-US" dirty="0"/>
              <a:t> Compact and portable, making it easy to deploy in forest or rural areas.</a:t>
            </a:r>
          </a:p>
          <a:p>
            <a:pPr marL="457200" indent="-457200" algn="just">
              <a:buFontTx/>
              <a:buAutoNum type="arabicPeriod"/>
            </a:pPr>
            <a:endParaRPr lang="en-US" dirty="0"/>
          </a:p>
          <a:p>
            <a:pPr marL="457200" indent="-457200" algn="just">
              <a:buFontTx/>
              <a:buAutoNum type="arabicPeriod"/>
            </a:pPr>
            <a:endParaRPr lang="en-US" dirty="0"/>
          </a:p>
          <a:p>
            <a:pPr marL="457200" indent="-457200" algn="just">
              <a:buAutoNum type="arabicPeriod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072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369" y="324357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Explanation of the Project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39" y="1168654"/>
            <a:ext cx="8072120" cy="4062651"/>
          </a:xfrm>
        </p:spPr>
        <p:txBody>
          <a:bodyPr/>
          <a:lstStyle/>
          <a:p>
            <a:r>
              <a:rPr lang="en-US" b="1" dirty="0"/>
              <a:t>Using Jetson Nano in our project:</a:t>
            </a:r>
          </a:p>
          <a:p>
            <a:pPr marL="457200" indent="-457200" algn="just">
              <a:buAutoNum type="arabicPeriod"/>
            </a:pPr>
            <a:r>
              <a:rPr lang="en-US" dirty="0"/>
              <a:t>We use Jetson Nano to run the YOLO AI model for real-time elephant detection.</a:t>
            </a:r>
          </a:p>
          <a:p>
            <a:pPr marL="457200" indent="-457200" algn="just">
              <a:buAutoNum type="arabicPeriod"/>
            </a:pPr>
            <a:endParaRPr lang="en-US" dirty="0"/>
          </a:p>
          <a:p>
            <a:pPr marL="457200" indent="-457200" algn="just">
              <a:buAutoNum type="arabicPeriod"/>
            </a:pPr>
            <a:r>
              <a:rPr lang="en-US" dirty="0"/>
              <a:t> It allows live video processing directly at the location without sending data to the cloud.</a:t>
            </a:r>
          </a:p>
          <a:p>
            <a:pPr marL="457200" indent="-457200" algn="just">
              <a:buAutoNum type="arabicPeriod"/>
            </a:pPr>
            <a:endParaRPr lang="en-US" dirty="0"/>
          </a:p>
          <a:p>
            <a:pPr marL="457200" indent="-457200" algn="just">
              <a:buAutoNum type="arabicPeriod"/>
            </a:pPr>
            <a:r>
              <a:rPr lang="en-US" dirty="0"/>
              <a:t> It can control external devices like buzzers and alert systems using GPIO pins.</a:t>
            </a:r>
          </a:p>
          <a:p>
            <a:pPr marL="457200" indent="-457200" algn="just">
              <a:buAutoNum type="arabicPeriod"/>
            </a:pPr>
            <a:endParaRPr lang="en-US" dirty="0"/>
          </a:p>
          <a:p>
            <a:pPr marL="457200" indent="-457200" algn="just">
              <a:buAutoNum type="arabicPeriod"/>
            </a:pPr>
            <a:r>
              <a:rPr lang="en-US" dirty="0"/>
              <a:t>It supports edge computing, which is important in forest areas with limited internet access.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495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368" y="97244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Explanation of the Project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38" y="648634"/>
            <a:ext cx="8072120" cy="5847755"/>
          </a:xfrm>
        </p:spPr>
        <p:txBody>
          <a:bodyPr/>
          <a:lstStyle/>
          <a:p>
            <a:pPr marL="457200" indent="-457200" algn="just">
              <a:buAutoNum type="arabicPeriod"/>
            </a:pPr>
            <a:r>
              <a:rPr lang="en-US" sz="2000" dirty="0" smtClean="0"/>
              <a:t>The </a:t>
            </a:r>
            <a:r>
              <a:rPr lang="en-US" sz="2000" dirty="0"/>
              <a:t>proposed system focuses on detecting elephants from </a:t>
            </a:r>
            <a:r>
              <a:rPr lang="en-US" sz="2000" dirty="0" smtClean="0"/>
              <a:t> </a:t>
            </a:r>
            <a:r>
              <a:rPr lang="en-US" sz="2000" dirty="0"/>
              <a:t>images in real time, enabling effective monitoring during night-time and low-visibility conditions to reduce human–elephant conflict</a:t>
            </a:r>
            <a:r>
              <a:rPr lang="en-US" sz="2000" dirty="0" smtClean="0"/>
              <a:t>.</a:t>
            </a:r>
          </a:p>
          <a:p>
            <a:pPr marL="457200" indent="-457200" algn="just">
              <a:buAutoNum type="arabicPeriod"/>
            </a:pPr>
            <a:endParaRPr lang="en-US" sz="2000" dirty="0" smtClean="0"/>
          </a:p>
          <a:p>
            <a:pPr marL="457200" indent="-457200" algn="just">
              <a:buAutoNum type="arabicPeriod"/>
            </a:pPr>
            <a:r>
              <a:rPr lang="en-US" sz="2000" dirty="0"/>
              <a:t> A deep learning–based object detection model (YOLO) is employed to analyze </a:t>
            </a:r>
            <a:r>
              <a:rPr lang="en-US" sz="2000" dirty="0" smtClean="0"/>
              <a:t> </a:t>
            </a:r>
            <a:r>
              <a:rPr lang="en-US" sz="2000" dirty="0"/>
              <a:t>video frames and identify the presence of elephants with high confidence</a:t>
            </a:r>
            <a:r>
              <a:rPr lang="en-US" sz="2000" dirty="0" smtClean="0"/>
              <a:t>.</a:t>
            </a:r>
          </a:p>
          <a:p>
            <a:pPr marL="457200" indent="-457200" algn="just">
              <a:buAutoNum type="arabicPeriod"/>
            </a:pPr>
            <a:endParaRPr lang="en-US" sz="2000" dirty="0" smtClean="0"/>
          </a:p>
          <a:p>
            <a:pPr marL="457200" indent="-457200" algn="just">
              <a:buAutoNum type="arabicPeriod"/>
            </a:pPr>
            <a:r>
              <a:rPr lang="en-US" sz="2000" dirty="0"/>
              <a:t> The </a:t>
            </a:r>
            <a:r>
              <a:rPr lang="en-US" sz="2000" dirty="0" smtClean="0"/>
              <a:t> </a:t>
            </a:r>
            <a:r>
              <a:rPr lang="en-US" sz="2000" dirty="0"/>
              <a:t>camera feed is continuously captured and processed, where each frame is resized and passed to the trained YOLO model for simultaneous object classification and localization</a:t>
            </a:r>
            <a:r>
              <a:rPr lang="en-US" sz="2000" dirty="0" smtClean="0"/>
              <a:t>.</a:t>
            </a:r>
          </a:p>
          <a:p>
            <a:pPr marL="457200" indent="-457200" algn="just">
              <a:buAutoNum type="arabicPeriod"/>
            </a:pPr>
            <a:endParaRPr lang="en-US" sz="2000" dirty="0" smtClean="0"/>
          </a:p>
          <a:p>
            <a:pPr marL="457200" indent="-457200" algn="just">
              <a:buAutoNum type="arabicPeriod"/>
            </a:pPr>
            <a:r>
              <a:rPr lang="en-US" sz="2000" dirty="0"/>
              <a:t> A confidence-based decision logic is implemented to ensure that only high-confidence elephant detections are considered, thereby minimizing false alerts</a:t>
            </a:r>
            <a:r>
              <a:rPr lang="en-US" sz="2000" dirty="0" smtClean="0"/>
              <a:t>.</a:t>
            </a:r>
          </a:p>
          <a:p>
            <a:pPr marL="457200" indent="-457200" algn="just">
              <a:buAutoNum type="arabicPeriod"/>
            </a:pPr>
            <a:endParaRPr lang="en-US" sz="2000" dirty="0" smtClean="0"/>
          </a:p>
          <a:p>
            <a:pPr marL="457200" indent="-457200" algn="just">
              <a:buAutoNum type="arabicPeriod"/>
            </a:pPr>
            <a:r>
              <a:rPr lang="en-US" sz="2000" dirty="0"/>
              <a:t> Upon successful detection, the system generates visual detection outputs and initiates alert mechanisms for early warning and preventive action. </a:t>
            </a:r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762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369" y="324357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Explanation of the Project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669" y="114300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04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369" y="324357"/>
            <a:ext cx="5525261" cy="492443"/>
          </a:xfrm>
        </p:spPr>
        <p:txBody>
          <a:bodyPr/>
          <a:lstStyle/>
          <a:p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Explanation of the Project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699" y="1447800"/>
            <a:ext cx="7086600" cy="39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95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368" y="47880"/>
            <a:ext cx="5525261" cy="492443"/>
          </a:xfrm>
        </p:spPr>
        <p:txBody>
          <a:bodyPr/>
          <a:lstStyle/>
          <a:p>
            <a:pPr algn="ctr"/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10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A8D02A-2DC9-192D-D311-2F6801D08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971534"/>
              </p:ext>
            </p:extLst>
          </p:nvPr>
        </p:nvGraphicFramePr>
        <p:xfrm>
          <a:off x="107830" y="990600"/>
          <a:ext cx="8961120" cy="5346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8524990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31888821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54203699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3331244944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1932119786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368451622"/>
                    </a:ext>
                  </a:extLst>
                </a:gridCol>
              </a:tblGrid>
              <a:tr h="100877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S.N0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Author 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Journal </a:t>
                      </a:r>
                    </a:p>
                    <a:p>
                      <a:pPr algn="ctr"/>
                      <a:r>
                        <a:rPr lang="en-US" dirty="0"/>
                        <a:t>Details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 </a:t>
                      </a:r>
                    </a:p>
                    <a:p>
                      <a:pPr algn="ctr"/>
                      <a:r>
                        <a:rPr lang="en-US" dirty="0"/>
                        <a:t>Title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Contribution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Remarks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557156"/>
                  </a:ext>
                </a:extLst>
              </a:tr>
              <a:tr h="4337722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Moorthy &amp; Rukkumani</a:t>
                      </a:r>
                    </a:p>
                    <a:p>
                      <a:pPr algn="ctr"/>
                      <a:r>
                        <a:rPr lang="en-US" dirty="0"/>
                        <a:t>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Published in </a:t>
                      </a:r>
                      <a:r>
                        <a:rPr lang="en-US" i="1" dirty="0"/>
                        <a:t>Materials Today: Proceedings</a:t>
                      </a:r>
                      <a:r>
                        <a:rPr lang="en-US" dirty="0"/>
                        <a:t>, Elsevier, 2023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Deep vision-based wildlife intrusion detection with </a:t>
                      </a:r>
                      <a:r>
                        <a:rPr lang="en-US" dirty="0" err="1"/>
                        <a:t>colour</a:t>
                      </a:r>
                      <a:r>
                        <a:rPr lang="en-US" dirty="0"/>
                        <a:t> distribution preserved generative adversarial networks (DV-WID-CDPGAN)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paper introduced Color Distribution Preserved GANs with Red Panda Optimization, achieving 99% accuracy in real-time elephant detection.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It marks a shift from traditional sensor-based methods to AI-driven solutions, enhancing accuracy, speed, and reliability for HEC mitigation.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58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8019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129" y="144689"/>
            <a:ext cx="5525261" cy="492443"/>
          </a:xfrm>
        </p:spPr>
        <p:txBody>
          <a:bodyPr/>
          <a:lstStyle/>
          <a:p>
            <a:pPr algn="ctr"/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11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A9DA02-D7E1-9FD7-2114-AB7AEBFE8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375698"/>
              </p:ext>
            </p:extLst>
          </p:nvPr>
        </p:nvGraphicFramePr>
        <p:xfrm>
          <a:off x="76200" y="882721"/>
          <a:ext cx="8961120" cy="5391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1612106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74083192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724337236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72785013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86482612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4062118857"/>
                    </a:ext>
                  </a:extLst>
                </a:gridCol>
              </a:tblGrid>
              <a:tr h="91049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S.N0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Author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Journal </a:t>
                      </a:r>
                    </a:p>
                    <a:p>
                      <a:pPr algn="ctr"/>
                      <a:r>
                        <a:rPr lang="en-US" dirty="0"/>
                        <a:t>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 </a:t>
                      </a:r>
                    </a:p>
                    <a:p>
                      <a:pPr algn="ctr"/>
                      <a:r>
                        <a:rPr lang="en-US" dirty="0"/>
                        <a:t>Title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Contribution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Remarks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228275"/>
                  </a:ext>
                </a:extLst>
              </a:tr>
              <a:tr h="4226589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Haixia Xu, </a:t>
                      </a:r>
                      <a:r>
                        <a:rPr lang="en-IN" dirty="0" err="1"/>
                        <a:t>Luguang</a:t>
                      </a:r>
                      <a:r>
                        <a:rPr lang="en-IN" dirty="0"/>
                        <a:t> Jiang, Ye Liu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i="1" dirty="0"/>
                        <a:t>Ecological Informatics</a:t>
                      </a:r>
                      <a:r>
                        <a:rPr lang="en-IN" dirty="0"/>
                        <a:t>, Volume 80, 2024, Article 102518, Elsevier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Mapping the potential distribution of Asian elephants: Implications for conservation and human–elephant conflict mitigation in South and Southeast Asia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study applied </a:t>
                      </a:r>
                      <a:r>
                        <a:rPr lang="en-US" dirty="0" err="1"/>
                        <a:t>MaxEnt</a:t>
                      </a:r>
                      <a:r>
                        <a:rPr lang="en-US" dirty="0"/>
                        <a:t> with Google Earth Engine to map Asian elephant habitats and identify key environmental factors influencing distribution.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highlights major HEC hotspots by overlapping elephant habitats with human populations, offering a strong foundation for conservation and conflict mitigation planning.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970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2508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369" y="324357"/>
            <a:ext cx="5525261" cy="492443"/>
          </a:xfrm>
        </p:spPr>
        <p:txBody>
          <a:bodyPr/>
          <a:lstStyle/>
          <a:p>
            <a:pPr algn="ctr"/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>
          <a:xfrm>
            <a:off x="6968706" y="127436"/>
            <a:ext cx="2103120" cy="276999"/>
          </a:xfrm>
        </p:spPr>
        <p:txBody>
          <a:bodyPr/>
          <a:lstStyle/>
          <a:p>
            <a:fld id="{B6F15528-21DE-4FAA-801E-634DDDAF4B2B}" type="slidenum">
              <a:rPr lang="en-IN" smtClean="0"/>
              <a:pPr/>
              <a:t>12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176A4F-F80E-4E6C-D4AA-31BF04AA3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648353"/>
              </p:ext>
            </p:extLst>
          </p:nvPr>
        </p:nvGraphicFramePr>
        <p:xfrm>
          <a:off x="0" y="1013721"/>
          <a:ext cx="9067800" cy="53024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179">
                  <a:extLst>
                    <a:ext uri="{9D8B030D-6E8A-4147-A177-3AD203B41FA5}">
                      <a16:colId xmlns:a16="http://schemas.microsoft.com/office/drawing/2014/main" val="2053383077"/>
                    </a:ext>
                  </a:extLst>
                </a:gridCol>
                <a:gridCol w="1850571">
                  <a:extLst>
                    <a:ext uri="{9D8B030D-6E8A-4147-A177-3AD203B41FA5}">
                      <a16:colId xmlns:a16="http://schemas.microsoft.com/office/drawing/2014/main" val="3496308935"/>
                    </a:ext>
                  </a:extLst>
                </a:gridCol>
                <a:gridCol w="1773464">
                  <a:extLst>
                    <a:ext uri="{9D8B030D-6E8A-4147-A177-3AD203B41FA5}">
                      <a16:colId xmlns:a16="http://schemas.microsoft.com/office/drawing/2014/main" val="103711585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126102257"/>
                    </a:ext>
                  </a:extLst>
                </a:gridCol>
                <a:gridCol w="1465036">
                  <a:extLst>
                    <a:ext uri="{9D8B030D-6E8A-4147-A177-3AD203B41FA5}">
                      <a16:colId xmlns:a16="http://schemas.microsoft.com/office/drawing/2014/main" val="4007139832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1895656274"/>
                    </a:ext>
                  </a:extLst>
                </a:gridCol>
              </a:tblGrid>
              <a:tr h="8218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S.N0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Author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Journal </a:t>
                      </a:r>
                    </a:p>
                    <a:p>
                      <a:pPr algn="ctr"/>
                      <a:r>
                        <a:rPr lang="en-US" dirty="0"/>
                        <a:t>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 </a:t>
                      </a:r>
                    </a:p>
                    <a:p>
                      <a:pPr algn="ctr"/>
                      <a:r>
                        <a:rPr lang="en-US" dirty="0"/>
                        <a:t>Title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Contribution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Remarks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405661"/>
                  </a:ext>
                </a:extLst>
              </a:tr>
              <a:tr h="44359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R. Dutta,</a:t>
                      </a:r>
                    </a:p>
                    <a:p>
                      <a:r>
                        <a:rPr lang="en-IN" dirty="0"/>
                        <a:t> A. </a:t>
                      </a:r>
                      <a:r>
                        <a:rPr lang="en-IN" dirty="0" err="1"/>
                        <a:t>Mondal</a:t>
                      </a:r>
                      <a:r>
                        <a:rPr lang="en-IN" dirty="0"/>
                        <a:t>, </a:t>
                      </a:r>
                    </a:p>
                    <a:p>
                      <a:r>
                        <a:rPr lang="en-IN" dirty="0"/>
                        <a:t>B. Banerjee, A. Ghosh,</a:t>
                      </a:r>
                    </a:p>
                    <a:p>
                      <a:r>
                        <a:rPr lang="en-IN" dirty="0"/>
                        <a:t> B. R. Kiran, C. </a:t>
                      </a:r>
                      <a:r>
                        <a:rPr lang="en-IN" dirty="0" err="1"/>
                        <a:t>Anand</a:t>
                      </a:r>
                      <a:r>
                        <a:rPr lang="en-IN" dirty="0"/>
                        <a:t>,</a:t>
                      </a:r>
                    </a:p>
                    <a:p>
                      <a:r>
                        <a:rPr lang="en-IN" dirty="0"/>
                        <a:t> K. S. </a:t>
                      </a:r>
                      <a:r>
                        <a:rPr lang="en-IN" dirty="0" err="1"/>
                        <a:t>Anoop</a:t>
                      </a:r>
                      <a:r>
                        <a:rPr lang="en-IN" dirty="0"/>
                        <a:t> Das,</a:t>
                      </a:r>
                    </a:p>
                    <a:p>
                      <a:r>
                        <a:rPr lang="en-IN" dirty="0"/>
                        <a:t> K. </a:t>
                      </a:r>
                      <a:r>
                        <a:rPr lang="en-IN" dirty="0" err="1"/>
                        <a:t>S.Anoop</a:t>
                      </a:r>
                      <a:r>
                        <a:rPr lang="en-IN" dirty="0"/>
                        <a:t>,      A. M. </a:t>
                      </a:r>
                      <a:r>
                        <a:rPr lang="en-IN" dirty="0" err="1"/>
                        <a:t>Azeez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Published in </a:t>
                      </a:r>
                      <a:r>
                        <a:rPr lang="en-US" i="1" dirty="0"/>
                        <a:t>Current Science</a:t>
                      </a:r>
                      <a:r>
                        <a:rPr lang="en-US" dirty="0"/>
                        <a:t>, Volume 120, Issue 11, June 2021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Elephant detection system using wireless sensor networks for mitigating human–elephant conflict in Kerala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Developed a </a:t>
                      </a:r>
                      <a:r>
                        <a:rPr lang="en-US" b="0" dirty="0"/>
                        <a:t>wireless sensor network-based system </a:t>
                      </a:r>
                      <a:r>
                        <a:rPr lang="en-US" dirty="0"/>
                        <a:t>integrating PIR sensors, seismic sensors, and acoustic sensors to detect elephant presence near human settlements.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paper shows the effectiveness of </a:t>
                      </a:r>
                      <a:r>
                        <a:rPr lang="en-US" b="0" dirty="0"/>
                        <a:t>multi-sensor fusion</a:t>
                      </a:r>
                      <a:r>
                        <a:rPr lang="en-US" dirty="0"/>
                        <a:t> for elephant detection, but its limitations in scalability and accuracy underline the need for AI-driven real-time systems like your project.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920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964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368" y="-19977"/>
            <a:ext cx="5525261" cy="492443"/>
          </a:xfrm>
        </p:spPr>
        <p:txBody>
          <a:bodyPr/>
          <a:lstStyle/>
          <a:p>
            <a:pPr algn="ctr"/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13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988858-2A39-D14B-6F5A-A430C43AE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694898"/>
              </p:ext>
            </p:extLst>
          </p:nvPr>
        </p:nvGraphicFramePr>
        <p:xfrm>
          <a:off x="106679" y="540497"/>
          <a:ext cx="8930641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407">
                  <a:extLst>
                    <a:ext uri="{9D8B030D-6E8A-4147-A177-3AD203B41FA5}">
                      <a16:colId xmlns:a16="http://schemas.microsoft.com/office/drawing/2014/main" val="796001854"/>
                    </a:ext>
                  </a:extLst>
                </a:gridCol>
                <a:gridCol w="1746640">
                  <a:extLst>
                    <a:ext uri="{9D8B030D-6E8A-4147-A177-3AD203B41FA5}">
                      <a16:colId xmlns:a16="http://schemas.microsoft.com/office/drawing/2014/main" val="211159756"/>
                    </a:ext>
                  </a:extLst>
                </a:gridCol>
                <a:gridCol w="1746640">
                  <a:extLst>
                    <a:ext uri="{9D8B030D-6E8A-4147-A177-3AD203B41FA5}">
                      <a16:colId xmlns:a16="http://schemas.microsoft.com/office/drawing/2014/main" val="3275082122"/>
                    </a:ext>
                  </a:extLst>
                </a:gridCol>
                <a:gridCol w="1594757">
                  <a:extLst>
                    <a:ext uri="{9D8B030D-6E8A-4147-A177-3AD203B41FA5}">
                      <a16:colId xmlns:a16="http://schemas.microsoft.com/office/drawing/2014/main" val="4177472185"/>
                    </a:ext>
                  </a:extLst>
                </a:gridCol>
                <a:gridCol w="1594757">
                  <a:extLst>
                    <a:ext uri="{9D8B030D-6E8A-4147-A177-3AD203B41FA5}">
                      <a16:colId xmlns:a16="http://schemas.microsoft.com/office/drawing/2014/main" val="3331772757"/>
                    </a:ext>
                  </a:extLst>
                </a:gridCol>
                <a:gridCol w="1488440">
                  <a:extLst>
                    <a:ext uri="{9D8B030D-6E8A-4147-A177-3AD203B41FA5}">
                      <a16:colId xmlns:a16="http://schemas.microsoft.com/office/drawing/2014/main" val="2223545794"/>
                    </a:ext>
                  </a:extLst>
                </a:gridCol>
              </a:tblGrid>
              <a:tr h="5506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S.N0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Author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Journal </a:t>
                      </a:r>
                    </a:p>
                    <a:p>
                      <a:pPr algn="ctr"/>
                      <a:r>
                        <a:rPr lang="en-US" dirty="0"/>
                        <a:t>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 </a:t>
                      </a:r>
                    </a:p>
                    <a:p>
                      <a:pPr algn="ctr"/>
                      <a:r>
                        <a:rPr lang="en-US" dirty="0"/>
                        <a:t>Title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Contribution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Remarks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252863"/>
                  </a:ext>
                </a:extLst>
              </a:tr>
              <a:tr h="47984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M. </a:t>
                      </a:r>
                      <a:r>
                        <a:rPr lang="en-IN" dirty="0" err="1"/>
                        <a:t>Moorthy</a:t>
                      </a:r>
                      <a:r>
                        <a:rPr lang="en-IN" dirty="0"/>
                        <a:t>, V.</a:t>
                      </a:r>
                    </a:p>
                    <a:p>
                      <a:pPr algn="ctr"/>
                      <a:r>
                        <a:rPr lang="en-IN" dirty="0" err="1"/>
                        <a:t>Rukkumani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Published in </a:t>
                      </a:r>
                      <a:r>
                        <a:rPr lang="en-US" i="1" dirty="0"/>
                        <a:t>Materials Today: Proceedings</a:t>
                      </a:r>
                      <a:r>
                        <a:rPr lang="en-US" dirty="0"/>
                        <a:t>, Elsevier, 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dirty="0"/>
                        <a:t>Human-elephant conflict in </a:t>
                      </a:r>
                      <a:r>
                        <a:rPr lang="en-US" sz="1800" b="0" dirty="0" err="1"/>
                        <a:t>Xishuangbanna</a:t>
                      </a:r>
                      <a:r>
                        <a:rPr lang="en-US" sz="1800" b="0" dirty="0"/>
                        <a:t> Prefecture, China: Distribution, diffusion, and mitigation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study applied ENFA and Circuit Theory models to identify risk factors and predict elephant movement in </a:t>
                      </a:r>
                      <a:r>
                        <a:rPr lang="en-US" dirty="0" err="1"/>
                        <a:t>Xishuangbanna</a:t>
                      </a:r>
                      <a:r>
                        <a:rPr lang="en-US" dirty="0"/>
                        <a:t>. It mapped that 22.77% of the area is at high risk of HEC, especially in agricultural and garden lands near elephant zones.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research emphasizes the urgent need for HEC management to protect both elephants and local communities. It provides a scientific basis for ecological corridor planning and compensation strategies in high-risk areas.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100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9378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1885" y="76200"/>
            <a:ext cx="6420230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 / Work Flow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5773A-72CB-569F-8F45-BAA93BDB9E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14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768" y="774468"/>
            <a:ext cx="4972432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17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381999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Approaches Planned to Execute the Project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2D02A-112D-F70A-3C24-64674DCFC6D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15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319177" y="1295400"/>
            <a:ext cx="858903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en-US" sz="2000" dirty="0" smtClean="0"/>
              <a:t>A data-driven AI approach is planned by collecting, annotating, and training elephant images for accurate real-time detection. </a:t>
            </a:r>
          </a:p>
          <a:p>
            <a:pPr marL="342900" indent="-342900" algn="just">
              <a:buAutoNum type="arabicPeriod"/>
            </a:pPr>
            <a:endParaRPr lang="en-US" sz="2000" dirty="0" smtClean="0"/>
          </a:p>
          <a:p>
            <a:pPr algn="just"/>
            <a:r>
              <a:rPr lang="en-US" sz="2000" dirty="0" smtClean="0"/>
              <a:t>2. An edge-computing approach is adopted by deploying the trained AI model on Jetson Nano to achieve low-latency and offline operation.</a:t>
            </a:r>
          </a:p>
          <a:p>
            <a:pPr algn="just"/>
            <a:endParaRPr lang="en-US" sz="2000" dirty="0" smtClean="0"/>
          </a:p>
          <a:p>
            <a:pPr algn="just"/>
            <a:r>
              <a:rPr lang="en-US" sz="2000" dirty="0" smtClean="0"/>
              <a:t>3. A computer vision–based monitoring approach is implemented using continuous live video capture and frame-by-frame analysis.</a:t>
            </a:r>
          </a:p>
          <a:p>
            <a:pPr algn="just"/>
            <a:endParaRPr lang="en-US" sz="2000" dirty="0" smtClean="0"/>
          </a:p>
          <a:p>
            <a:pPr algn="just"/>
            <a:r>
              <a:rPr lang="en-US" sz="2000" dirty="0" smtClean="0"/>
              <a:t>4. A multi-alert response approach is designed using a buzzer and mobile notification system for immediate warning generation.</a:t>
            </a:r>
          </a:p>
          <a:p>
            <a:pPr algn="just"/>
            <a:endParaRPr lang="en-US" sz="2000" dirty="0" smtClean="0"/>
          </a:p>
          <a:p>
            <a:pPr algn="just"/>
            <a:r>
              <a:rPr lang="en-US" sz="2000" dirty="0" smtClean="0"/>
              <a:t>5. An iterative testing and optimization approach is followed to improve detection accuracy and reduce false alarms under real-world conditions.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6771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468" y="0"/>
            <a:ext cx="8227061" cy="984885"/>
          </a:xfrm>
        </p:spPr>
        <p:txBody>
          <a:bodyPr/>
          <a:lstStyle/>
          <a:p>
            <a:r>
              <a:rPr lang="en-IN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 completed and Work plan Review 3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762000"/>
            <a:ext cx="8072120" cy="5078313"/>
          </a:xfrm>
        </p:spPr>
        <p:txBody>
          <a:bodyPr/>
          <a:lstStyle/>
          <a:p>
            <a:pPr marL="457200" indent="-457200" algn="just">
              <a:buAutoNum type="arabicPeriod"/>
            </a:pPr>
            <a:r>
              <a:rPr lang="en-US" dirty="0" smtClean="0"/>
              <a:t>Collected and prepared a </a:t>
            </a:r>
            <a:r>
              <a:rPr lang="en-US" dirty="0" smtClean="0"/>
              <a:t> </a:t>
            </a:r>
            <a:r>
              <a:rPr lang="en-US" dirty="0" smtClean="0"/>
              <a:t>image dataset of elephants for training and validation.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 smtClean="0"/>
              <a:t>Trained a YOLO-based deep learning model specifically for elephant detection using </a:t>
            </a:r>
            <a:r>
              <a:rPr lang="en-US" dirty="0" smtClean="0"/>
              <a:t> </a:t>
            </a:r>
            <a:r>
              <a:rPr lang="en-US" dirty="0" smtClean="0"/>
              <a:t>images.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 smtClean="0"/>
              <a:t> Performed data preprocessing and augmentation to improve model generalization and robustness.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/>
              <a:t> </a:t>
            </a:r>
            <a:r>
              <a:rPr lang="en-US" dirty="0" smtClean="0"/>
              <a:t>Optimized </a:t>
            </a:r>
            <a:r>
              <a:rPr lang="en-US" dirty="0"/>
              <a:t>training parameters to improve detection accuracy and reduce false detections</a:t>
            </a:r>
            <a:r>
              <a:rPr lang="en-US" dirty="0" smtClean="0"/>
              <a:t>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/>
              <a:t> Evaluated the trained model and achieved improved accuracy in detecting elephants under low-light and night-time conditions.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739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8982" y="76631"/>
            <a:ext cx="6344031" cy="984885"/>
          </a:xfrm>
        </p:spPr>
        <p:txBody>
          <a:bodyPr/>
          <a:lstStyle/>
          <a:p>
            <a:r>
              <a:rPr lang="en-IN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 Progress after Review 1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69072"/>
            <a:ext cx="8072120" cy="6093976"/>
          </a:xfrm>
        </p:spPr>
        <p:txBody>
          <a:bodyPr/>
          <a:lstStyle/>
          <a:p>
            <a:pPr marL="457200" indent="-457200" algn="just"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Jetson Nano edge-computing platform was successfully selected, configured, and validated for real-time AI-based elephant detection</a:t>
            </a:r>
            <a:r>
              <a:rPr lang="en-US" dirty="0" smtClean="0"/>
              <a:t>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/>
              <a:t> The YOLO deep learning model was deployed and executed on Jetson Nano to perform real-time elephant detection from live video streams. </a:t>
            </a:r>
            <a:endParaRPr lang="en-US" dirty="0" smtClean="0"/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/>
              <a:t> Live video capture and frame-by-frame processing were implemented using </a:t>
            </a:r>
            <a:r>
              <a:rPr lang="en-US" dirty="0" err="1"/>
              <a:t>OpenCV</a:t>
            </a:r>
            <a:r>
              <a:rPr lang="en-US" dirty="0"/>
              <a:t> on the Jetson Nano platform</a:t>
            </a:r>
            <a:r>
              <a:rPr lang="en-US" dirty="0" smtClean="0"/>
              <a:t>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/>
              <a:t> End-to-end real-time testing of the detection pipeline was carried out to ensure correct model inference and system stability</a:t>
            </a:r>
            <a:r>
              <a:rPr lang="en-US" dirty="0" smtClean="0"/>
              <a:t>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/>
              <a:t> The alert triggering mechanism was validated to confirm successful detection-to-alert flow during elephant detection events.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003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368" y="47880"/>
            <a:ext cx="5525261" cy="492443"/>
          </a:xfrm>
        </p:spPr>
        <p:txBody>
          <a:bodyPr/>
          <a:lstStyle/>
          <a:p>
            <a:pPr algn="ctr"/>
            <a:r>
              <a:rPr lang="en-IN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Improvements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622754"/>
            <a:ext cx="8072120" cy="4739759"/>
          </a:xfrm>
        </p:spPr>
        <p:txBody>
          <a:bodyPr/>
          <a:lstStyle/>
          <a:p>
            <a:pPr marL="457200" indent="-457200" algn="just">
              <a:buAutoNum type="arabicPeriod"/>
            </a:pPr>
            <a:r>
              <a:rPr lang="en-US" dirty="0" smtClean="0"/>
              <a:t>YOLO </a:t>
            </a:r>
            <a:r>
              <a:rPr lang="en-US" dirty="0"/>
              <a:t>model optimized using ONNX, achieving 83% detection accuracy in real-time inference</a:t>
            </a:r>
            <a:r>
              <a:rPr lang="en-US" dirty="0" smtClean="0"/>
              <a:t>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/>
              <a:t>High confidence threshold reduces false detections and improves accuracy</a:t>
            </a:r>
            <a:r>
              <a:rPr lang="en-US" dirty="0" smtClean="0"/>
              <a:t>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/>
              <a:t>Fixed frame resizing enhances detection stability and processing speed</a:t>
            </a:r>
            <a:r>
              <a:rPr lang="en-US" dirty="0" smtClean="0"/>
              <a:t>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/>
              <a:t>Single-event alert logic avoids repeated SMS and call notifications</a:t>
            </a:r>
            <a:r>
              <a:rPr lang="en-US" dirty="0" smtClean="0"/>
              <a:t>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/>
              <a:t>Multi-alert outputs ensure reliable early warning based on 83% accuracy. 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944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368" y="47880"/>
            <a:ext cx="5525261" cy="492443"/>
          </a:xfrm>
        </p:spPr>
        <p:txBody>
          <a:bodyPr/>
          <a:lstStyle/>
          <a:p>
            <a:r>
              <a:rPr lang="en-IN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 Development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619879"/>
            <a:ext cx="8072120" cy="6093976"/>
          </a:xfrm>
        </p:spPr>
        <p:txBody>
          <a:bodyPr/>
          <a:lstStyle/>
          <a:p>
            <a:pPr marL="457200" indent="-457200" algn="just">
              <a:buAutoNum type="arabicPeriod"/>
            </a:pPr>
            <a:r>
              <a:rPr lang="en-US" dirty="0" smtClean="0"/>
              <a:t>A </a:t>
            </a:r>
            <a:r>
              <a:rPr lang="en-US" dirty="0"/>
              <a:t>Jetson Nano is used as the core processing unit to run the YOLO-based deep learning model for real-time elephant detection</a:t>
            </a:r>
            <a:r>
              <a:rPr lang="en-US" dirty="0" smtClean="0"/>
              <a:t>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/>
              <a:t>A camera module </a:t>
            </a:r>
            <a:r>
              <a:rPr lang="en-US" dirty="0" smtClean="0"/>
              <a:t>(USB </a:t>
            </a:r>
            <a:r>
              <a:rPr lang="en-US" dirty="0"/>
              <a:t>camera) is interfaced with the Jetson Nano to capture live video frames for continuous monitoring. </a:t>
            </a:r>
            <a:endParaRPr lang="en-US" dirty="0" smtClean="0"/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/>
              <a:t> The prototype supports basic hardware interfacing, with provisions to connect an external buzzer for on-site alert generation</a:t>
            </a:r>
            <a:r>
              <a:rPr lang="en-US" dirty="0" smtClean="0"/>
              <a:t>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/>
              <a:t> The system is powered using a regulated power supply, suitable for laboratory and prototype-level testing</a:t>
            </a:r>
            <a:r>
              <a:rPr lang="en-US" dirty="0" smtClean="0"/>
              <a:t>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/>
              <a:t> The complete hardware setup is developed as a functional prototype to validate real-time detection and alert mechanisms before large-scale deployment.</a:t>
            </a:r>
            <a:endParaRPr lang="en-US" dirty="0" smtClean="0"/>
          </a:p>
          <a:p>
            <a:pPr marL="457200" indent="-457200">
              <a:buAutoNum type="arabicPeriod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280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B71A5-85ED-CBA0-3886-09EE1E6F5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98BBC9E-3C61-AEEA-0696-9DA34833D9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7467600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 Development</a:t>
            </a:r>
            <a:endParaRPr spc="-1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7E299-0570-DA64-72AD-D1E1D4EA5EE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20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133600" y="228600"/>
            <a:ext cx="4724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11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1D085-33D7-A857-7080-1AA2C4B75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6974835-8A7E-0A7F-CBB7-08A5633CAB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458200" cy="1190711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Components used &amp; Justification of their selection </a:t>
            </a:r>
            <a:endParaRPr spc="-1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3D6E5-FC2A-6239-9F83-A7AF5CE9E5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21</a:t>
            </a:fld>
            <a:endParaRPr lang="en-IN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535417"/>
              </p:ext>
            </p:extLst>
          </p:nvPr>
        </p:nvGraphicFramePr>
        <p:xfrm>
          <a:off x="304800" y="1190711"/>
          <a:ext cx="8458200" cy="50617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969454014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2697672639"/>
                    </a:ext>
                  </a:extLst>
                </a:gridCol>
              </a:tblGrid>
              <a:tr h="51065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Component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Justification for Selection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727588"/>
                  </a:ext>
                </a:extLst>
              </a:tr>
              <a:tr h="1080163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Jetson Nano</a:t>
                      </a:r>
                      <a:r>
                        <a:rPr lang="en-US" sz="2000" baseline="0" dirty="0" smtClean="0"/>
                        <a:t>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Chosen as the main processing unit due to its GPU-accelerated deep learning capability, enabling real-time YOLO model execution with low latency on an edge platform.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260462"/>
                  </a:ext>
                </a:extLst>
              </a:tr>
              <a:tr h="1080163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Camera Module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Selected to capture </a:t>
                      </a:r>
                      <a:r>
                        <a:rPr lang="en-US" sz="2000" dirty="0" smtClean="0"/>
                        <a:t>images</a:t>
                      </a:r>
                      <a:r>
                        <a:rPr lang="en-US" sz="2000" dirty="0" smtClean="0"/>
                        <a:t>, allowing reliable elephant detection during night-time and low-visibility conditions.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839475"/>
                  </a:ext>
                </a:extLst>
              </a:tr>
              <a:tr h="1080163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YOLO Deep Learning Model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Used for its real-time object detection performance, high accuracy, and efficient deployment on edge devices like Jetson Nano.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839450"/>
                  </a:ext>
                </a:extLst>
              </a:tr>
              <a:tr h="1080163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Buzzer (Alert Unit)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Provides immediate on-site audio alerts when elephant presence is detected, ensuring rapid local warning.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945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6815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27436"/>
            <a:ext cx="5525261" cy="492443"/>
          </a:xfrm>
        </p:spPr>
        <p:txBody>
          <a:bodyPr/>
          <a:lstStyle/>
          <a:p>
            <a:pPr algn="ctr"/>
            <a:r>
              <a:rPr lang="en-IN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Results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66800"/>
            <a:ext cx="8072120" cy="4062651"/>
          </a:xfrm>
        </p:spPr>
        <p:txBody>
          <a:bodyPr/>
          <a:lstStyle/>
          <a:p>
            <a:pPr marL="457200" indent="-457200" algn="just">
              <a:buAutoNum type="arabicPeriod"/>
            </a:pPr>
            <a:r>
              <a:rPr lang="en-US" dirty="0" smtClean="0"/>
              <a:t>Elephants </a:t>
            </a:r>
            <a:r>
              <a:rPr lang="en-US" dirty="0"/>
              <a:t>were successfully detected from live </a:t>
            </a:r>
            <a:r>
              <a:rPr lang="en-US" dirty="0" smtClean="0"/>
              <a:t> </a:t>
            </a:r>
            <a:r>
              <a:rPr lang="en-US" dirty="0"/>
              <a:t>video in real time</a:t>
            </a:r>
            <a:r>
              <a:rPr lang="en-US" dirty="0" smtClean="0"/>
              <a:t>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 smtClean="0"/>
              <a:t> </a:t>
            </a:r>
            <a:r>
              <a:rPr lang="en-US" dirty="0"/>
              <a:t>Detection accuracy improved after training and optimization of the YOLO model</a:t>
            </a:r>
            <a:r>
              <a:rPr lang="en-US" dirty="0" smtClean="0"/>
              <a:t>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/>
              <a:t> High-confidence thresholds reduced false alerts</a:t>
            </a:r>
            <a:r>
              <a:rPr lang="en-US" dirty="0" smtClean="0"/>
              <a:t>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/>
              <a:t> The system ran stably on Jetson Nano with low latency</a:t>
            </a:r>
            <a:r>
              <a:rPr lang="en-US" dirty="0" smtClean="0"/>
              <a:t>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/>
              <a:t> Visual outputs and alert mechanisms were triggered correctly upon detection.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3066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399" y="42126"/>
            <a:ext cx="7315200" cy="984885"/>
          </a:xfrm>
        </p:spPr>
        <p:txBody>
          <a:bodyPr/>
          <a:lstStyle/>
          <a:p>
            <a:r>
              <a:rPr lang="en-IN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Analyses of experimental results/data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39" y="762000"/>
            <a:ext cx="8072120" cy="4739759"/>
          </a:xfrm>
        </p:spPr>
        <p:txBody>
          <a:bodyPr/>
          <a:lstStyle/>
          <a:p>
            <a:pPr marL="457200" indent="-457200" algn="just">
              <a:buAutoNum type="arabicPeriod"/>
            </a:pPr>
            <a:r>
              <a:rPr lang="en-US" dirty="0" smtClean="0"/>
              <a:t>Training </a:t>
            </a:r>
            <a:r>
              <a:rPr lang="en-US" dirty="0"/>
              <a:t>the YOLO model with </a:t>
            </a:r>
            <a:r>
              <a:rPr lang="en-US" dirty="0" smtClean="0"/>
              <a:t> </a:t>
            </a:r>
            <a:r>
              <a:rPr lang="en-US" dirty="0"/>
              <a:t>images resulted in a noticeable improvement in detection accuracy</a:t>
            </a:r>
            <a:r>
              <a:rPr lang="en-US" dirty="0" smtClean="0"/>
              <a:t>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/>
              <a:t>The use of a high confidence threshold effectively reduced false detections during testing</a:t>
            </a:r>
            <a:r>
              <a:rPr lang="en-US" dirty="0" smtClean="0"/>
              <a:t>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/>
              <a:t> Real-time inference on Jetson Nano showed low latency and stable performance</a:t>
            </a:r>
            <a:r>
              <a:rPr lang="en-US" dirty="0" smtClean="0"/>
              <a:t>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/>
              <a:t>The system performed reliably under low-light and night-time conditions using thermal inputs</a:t>
            </a:r>
            <a:r>
              <a:rPr lang="en-US" dirty="0" smtClean="0"/>
              <a:t>.</a:t>
            </a:r>
          </a:p>
          <a:p>
            <a:pPr marL="457200" indent="-457200" algn="just">
              <a:buAutoNum type="arabicPeriod"/>
            </a:pPr>
            <a:endParaRPr lang="en-US" dirty="0" smtClean="0"/>
          </a:p>
          <a:p>
            <a:pPr marL="457200" indent="-457200" algn="just">
              <a:buAutoNum type="arabicPeriod"/>
            </a:pPr>
            <a:r>
              <a:rPr lang="en-US" dirty="0"/>
              <a:t>End-to-end testing confirmed correct coordination between detection, visualization, and alert triggering.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792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369" y="324357"/>
            <a:ext cx="5525261" cy="492443"/>
          </a:xfrm>
        </p:spPr>
        <p:txBody>
          <a:bodyPr/>
          <a:lstStyle/>
          <a:p>
            <a:r>
              <a:rPr lang="en-IN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 plan for Review 3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24</a:t>
            </a:fld>
            <a:endParaRPr lang="en-IN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35939" y="1168654"/>
            <a:ext cx="8072120" cy="4308872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sz="2000" dirty="0" smtClean="0"/>
              <a:t>Design </a:t>
            </a:r>
            <a:r>
              <a:rPr lang="en-US" sz="2000" dirty="0"/>
              <a:t>and develop the </a:t>
            </a:r>
            <a:r>
              <a:rPr lang="en-US" sz="2000" b="1" dirty="0"/>
              <a:t>user interface (UI)</a:t>
            </a:r>
            <a:r>
              <a:rPr lang="en-US" sz="2000" dirty="0"/>
              <a:t> for real-time monitoring and alerts in the human–elephant conflict mitigation system</a:t>
            </a:r>
            <a:r>
              <a:rPr lang="en-US" sz="2000" dirty="0" smtClean="0"/>
              <a:t>.</a:t>
            </a:r>
          </a:p>
          <a:p>
            <a:pPr marL="342900" indent="-342900">
              <a:buAutoNum type="arabicPeriod"/>
            </a:pPr>
            <a:endParaRPr lang="en-US" sz="2000" dirty="0" smtClean="0"/>
          </a:p>
          <a:p>
            <a:pPr marL="342900" indent="-342900">
              <a:buAutoNum type="arabicPeriod"/>
            </a:pPr>
            <a:r>
              <a:rPr lang="en-US" sz="2000" dirty="0"/>
              <a:t> Integrate the </a:t>
            </a:r>
            <a:r>
              <a:rPr lang="en-US" sz="2000" b="1" dirty="0"/>
              <a:t>alert interface</a:t>
            </a:r>
            <a:r>
              <a:rPr lang="en-US" sz="2000" dirty="0"/>
              <a:t> to display elephant detection status, location, and warning notifications</a:t>
            </a:r>
            <a:r>
              <a:rPr lang="en-US" sz="2000" dirty="0" smtClean="0"/>
              <a:t>.</a:t>
            </a:r>
          </a:p>
          <a:p>
            <a:pPr marL="342900" indent="-342900">
              <a:buAutoNum type="arabicPeriod"/>
            </a:pPr>
            <a:endParaRPr lang="en-US" sz="2000" dirty="0" smtClean="0"/>
          </a:p>
          <a:p>
            <a:pPr marL="342900" indent="-342900">
              <a:buAutoNum type="arabicPeriod"/>
            </a:pPr>
            <a:r>
              <a:rPr lang="en-US" sz="2000" dirty="0"/>
              <a:t> Design and implement the </a:t>
            </a:r>
            <a:r>
              <a:rPr lang="en-US" sz="2000" b="1" dirty="0"/>
              <a:t>alarm/buzzer module</a:t>
            </a:r>
            <a:r>
              <a:rPr lang="en-US" sz="2000" dirty="0"/>
              <a:t> for immediate on-site warning when elephant presence is detected</a:t>
            </a:r>
            <a:r>
              <a:rPr lang="en-US" sz="2000" dirty="0" smtClean="0"/>
              <a:t>.</a:t>
            </a:r>
          </a:p>
          <a:p>
            <a:pPr marL="342900" indent="-342900">
              <a:buAutoNum type="arabicPeriod"/>
            </a:pPr>
            <a:endParaRPr lang="en-US" sz="2000" dirty="0" smtClean="0"/>
          </a:p>
          <a:p>
            <a:pPr marL="342900" indent="-342900">
              <a:buAutoNum type="arabicPeriod"/>
            </a:pPr>
            <a:r>
              <a:rPr lang="en-US" sz="2000" dirty="0"/>
              <a:t> Interface the </a:t>
            </a:r>
            <a:r>
              <a:rPr lang="en-US" sz="2000" b="1" dirty="0"/>
              <a:t>buzzer system with the detection logic</a:t>
            </a:r>
            <a:r>
              <a:rPr lang="en-US" sz="2000" dirty="0"/>
              <a:t> to ensure automatic triggering during threat conditions</a:t>
            </a:r>
            <a:r>
              <a:rPr lang="en-US" sz="2000" dirty="0" smtClean="0"/>
              <a:t>.</a:t>
            </a:r>
          </a:p>
          <a:p>
            <a:pPr marL="342900" indent="-342900">
              <a:buAutoNum type="arabicPeriod"/>
            </a:pPr>
            <a:endParaRPr lang="en-US" sz="2000" dirty="0" smtClean="0"/>
          </a:p>
          <a:p>
            <a:pPr marL="342900" indent="-342900">
              <a:buAutoNum type="arabicPeriod"/>
            </a:pPr>
            <a:r>
              <a:rPr lang="en-US" sz="2000" dirty="0"/>
              <a:t> Test and validate the </a:t>
            </a:r>
            <a:r>
              <a:rPr lang="en-US" sz="2000" b="1" dirty="0"/>
              <a:t>UI responsiveness and buzzer alert functionality</a:t>
            </a:r>
            <a:r>
              <a:rPr lang="en-US" sz="2000" dirty="0"/>
              <a:t> under simulated detection scenarios.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89355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1885" y="76200"/>
            <a:ext cx="6420230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Financial Plan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894D60-B1B0-FF51-F1F2-6757EB15B4F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25</a:t>
            </a:fld>
            <a:endParaRPr lang="en-IN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889671"/>
              </p:ext>
            </p:extLst>
          </p:nvPr>
        </p:nvGraphicFramePr>
        <p:xfrm>
          <a:off x="533400" y="1397000"/>
          <a:ext cx="7696200" cy="2706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100">
                  <a:extLst>
                    <a:ext uri="{9D8B030D-6E8A-4147-A177-3AD203B41FA5}">
                      <a16:colId xmlns:a16="http://schemas.microsoft.com/office/drawing/2014/main" val="809493363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9696845"/>
                    </a:ext>
                  </a:extLst>
                </a:gridCol>
              </a:tblGrid>
              <a:tr h="57912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Equipment/Component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322084"/>
                  </a:ext>
                </a:extLst>
              </a:tr>
              <a:tr h="99959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JETSON</a:t>
                      </a:r>
                      <a:r>
                        <a:rPr lang="en-US" sz="24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NANO 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37000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149513"/>
                  </a:ext>
                </a:extLst>
              </a:tr>
              <a:tr h="112811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CAMERA</a:t>
                      </a:r>
                      <a:endParaRPr lang="en-IN" sz="2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8194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92976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76200"/>
            <a:ext cx="6943915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Mapping of the Project with SDGs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701A40-0437-A241-8DAA-D79B23799F9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26</a:t>
            </a:fld>
            <a:endParaRPr lang="en-IN"/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5A224BB1-D2F1-6771-7A66-3F967FD8B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87" y="1143000"/>
            <a:ext cx="1066800" cy="8835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BE531E-1FD2-8836-897D-652AB0175B82}"/>
              </a:ext>
            </a:extLst>
          </p:cNvPr>
          <p:cNvSpPr txBox="1"/>
          <p:nvPr/>
        </p:nvSpPr>
        <p:spPr>
          <a:xfrm>
            <a:off x="1905000" y="1143000"/>
            <a:ext cx="69724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/>
              <a:t>SDG 9 – Industry, Innovation, and Infrastructure: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b="1" dirty="0"/>
              <a:t> </a:t>
            </a:r>
            <a:r>
              <a:rPr lang="en-US" sz="1800" dirty="0"/>
              <a:t>Applies modern technologies like AI, sensors, and data-driven solutions to solve real-world ecological problems.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63209F-27E4-0EF9-BAA5-C55631157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70" y="2819400"/>
            <a:ext cx="1234547" cy="10440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2B9322-1F58-B2AB-FF17-0ADC363F62B4}"/>
              </a:ext>
            </a:extLst>
          </p:cNvPr>
          <p:cNvSpPr txBox="1"/>
          <p:nvPr/>
        </p:nvSpPr>
        <p:spPr>
          <a:xfrm>
            <a:off x="1857667" y="2804895"/>
            <a:ext cx="72847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/>
              <a:t>SDG 11 – Sustainable Cities and Communities: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b="1" dirty="0"/>
              <a:t> </a:t>
            </a:r>
            <a:r>
              <a:rPr lang="en-US" sz="1800" dirty="0"/>
              <a:t>Provides a safer living environment for communities living near forests by reducing unexpected elephant intrusions.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b="1" dirty="0"/>
              <a:t> </a:t>
            </a:r>
            <a:r>
              <a:rPr lang="en-US" sz="1800" dirty="0"/>
              <a:t>Strengthens community resilience and preparedness through early warning systems and education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BBCB03-2CCF-CAF2-C8D5-E70FE9612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70" y="4864332"/>
            <a:ext cx="1265030" cy="10440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106FE0-AE16-5EBD-6014-3A341AD53A7D}"/>
              </a:ext>
            </a:extLst>
          </p:cNvPr>
          <p:cNvSpPr txBox="1"/>
          <p:nvPr/>
        </p:nvSpPr>
        <p:spPr>
          <a:xfrm>
            <a:off x="1857667" y="4864332"/>
            <a:ext cx="70865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/>
              <a:t>SDG 15 – Life on Land: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b="1" dirty="0"/>
              <a:t> </a:t>
            </a:r>
            <a:r>
              <a:rPr lang="en-US" sz="1800" dirty="0"/>
              <a:t>The project directly contributes to protecting, restoring, and promoting the sustainable use of terrestrial ecosystems.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b="1" dirty="0"/>
              <a:t> </a:t>
            </a:r>
            <a:r>
              <a:rPr lang="en-US" sz="1800" dirty="0"/>
              <a:t>By reducing human-elephant conflict, it helps in the conservation of the endangered Asian elephant and their natural habitats.</a:t>
            </a:r>
          </a:p>
          <a:p>
            <a:pPr algn="just"/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492497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-228600"/>
            <a:ext cx="8305800" cy="1683153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Team Dynamics (includes team member contributions, team member recognition, team motivation)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DF3E15-054B-5FC1-7467-B45C69C0634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27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2DFF43-32B7-CCC9-4F23-48F69A139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506018"/>
              </p:ext>
            </p:extLst>
          </p:nvPr>
        </p:nvGraphicFramePr>
        <p:xfrm>
          <a:off x="152400" y="1810589"/>
          <a:ext cx="8763000" cy="4456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026062326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137381634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358485249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3113618610"/>
                    </a:ext>
                  </a:extLst>
                </a:gridCol>
              </a:tblGrid>
              <a:tr h="54518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Team </a:t>
                      </a:r>
                    </a:p>
                    <a:p>
                      <a:pPr algn="ctr"/>
                      <a:r>
                        <a:rPr lang="en-US" dirty="0"/>
                        <a:t>Member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Contribution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Recognition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Motivation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312465"/>
                  </a:ext>
                </a:extLst>
              </a:tr>
              <a:tr h="3816426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G.G Jegadheeshwaran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Prepared the dataset by extracting frames from elephant and </a:t>
                      </a:r>
                      <a:r>
                        <a:rPr lang="en-US" b="1" dirty="0"/>
                        <a:t>stock videos</a:t>
                      </a:r>
                      <a:r>
                        <a:rPr lang="en-US" dirty="0"/>
                        <a:t>, labeling them across varied poses, lighting, and environments. This created a diverse dataset that strengthened the model’s training and reliability.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Recognized as the </a:t>
                      </a:r>
                      <a:r>
                        <a:rPr lang="en-US" b="0" dirty="0"/>
                        <a:t>dataset specialist </a:t>
                      </a:r>
                      <a:r>
                        <a:rPr lang="en-US" dirty="0"/>
                        <a:t>for ensuring the training data was clean and diverse.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Motivated by contributing to the foundation that improves the model’s accuracy and robustness.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32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1722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303259" cy="1477328"/>
          </a:xfrm>
        </p:spPr>
        <p:txBody>
          <a:bodyPr/>
          <a:lstStyle/>
          <a:p>
            <a:pPr algn="ctr"/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Team Dynamics (includes team member contributions, team member recognition, team motivation)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28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EC9BAAB-C635-3794-6153-29DCD59A6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578556"/>
              </p:ext>
            </p:extLst>
          </p:nvPr>
        </p:nvGraphicFramePr>
        <p:xfrm>
          <a:off x="76200" y="1714308"/>
          <a:ext cx="8961120" cy="4306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60138858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91805884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4005039333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39641072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Team </a:t>
                      </a:r>
                    </a:p>
                    <a:p>
                      <a:pPr algn="ctr"/>
                      <a:r>
                        <a:rPr lang="en-US" dirty="0"/>
                        <a:t>Member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Contribution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Recognition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Motivation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677826"/>
                  </a:ext>
                </a:extLst>
              </a:tr>
              <a:tr h="3392303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Hamebantei</a:t>
                      </a:r>
                      <a:r>
                        <a:rPr lang="en-US" sz="1800" b="1" dirty="0"/>
                        <a:t>  K  </a:t>
                      </a:r>
                      <a:r>
                        <a:rPr lang="en-US" sz="1800" b="1" dirty="0" err="1"/>
                        <a:t>Tangsang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Led the </a:t>
                      </a:r>
                      <a:r>
                        <a:rPr lang="en-US" b="0" dirty="0"/>
                        <a:t>transition from image-based detection to video-based detection. </a:t>
                      </a:r>
                      <a:r>
                        <a:rPr lang="en-US" dirty="0"/>
                        <a:t>Took initiative in exploring video datasets and ensuring that real-time performance requirements were addressed.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Recognized as the </a:t>
                      </a:r>
                      <a:r>
                        <a:rPr lang="en-US" b="0" dirty="0"/>
                        <a:t>strategic planner </a:t>
                      </a:r>
                      <a:r>
                        <a:rPr lang="en-US" dirty="0"/>
                        <a:t>who guided the shift toward a more practical solution.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Motivated by the vision of building a system that works effectively in real-world scenarios.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474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42017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646" y="0"/>
            <a:ext cx="8808719" cy="1969770"/>
          </a:xfrm>
        </p:spPr>
        <p:txBody>
          <a:bodyPr/>
          <a:lstStyle/>
          <a:p>
            <a:pPr algn="ctr"/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Team Dynamics (includes team member contributions, team member recognition, team motivation)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29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E14CFF-AD6A-2F45-3C30-4388C9782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78859"/>
              </p:ext>
            </p:extLst>
          </p:nvPr>
        </p:nvGraphicFramePr>
        <p:xfrm>
          <a:off x="228600" y="1708078"/>
          <a:ext cx="8808720" cy="38349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221631362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1891286268"/>
                    </a:ext>
                  </a:extLst>
                </a:gridCol>
                <a:gridCol w="2202180">
                  <a:extLst>
                    <a:ext uri="{9D8B030D-6E8A-4147-A177-3AD203B41FA5}">
                      <a16:colId xmlns:a16="http://schemas.microsoft.com/office/drawing/2014/main" val="1491490374"/>
                    </a:ext>
                  </a:extLst>
                </a:gridCol>
                <a:gridCol w="2202180">
                  <a:extLst>
                    <a:ext uri="{9D8B030D-6E8A-4147-A177-3AD203B41FA5}">
                      <a16:colId xmlns:a16="http://schemas.microsoft.com/office/drawing/2014/main" val="2025965065"/>
                    </a:ext>
                  </a:extLst>
                </a:gridCol>
              </a:tblGrid>
              <a:tr h="8065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Team </a:t>
                      </a:r>
                    </a:p>
                    <a:p>
                      <a:pPr algn="ctr"/>
                      <a:r>
                        <a:rPr lang="en-US" dirty="0"/>
                        <a:t>Member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Contribution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Recognition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Motivation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2671"/>
                  </a:ext>
                </a:extLst>
              </a:tr>
              <a:tr h="292057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Arnab  </a:t>
                      </a:r>
                      <a:r>
                        <a:rPr lang="en-US" b="1" dirty="0" err="1"/>
                        <a:t>Sheoran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Implemented and fine-tuned the </a:t>
                      </a:r>
                      <a:r>
                        <a:rPr lang="en-US" b="0" dirty="0"/>
                        <a:t>deep learning model (YOLO/Mobile Net)</a:t>
                      </a:r>
                      <a:r>
                        <a:rPr lang="en-US" dirty="0"/>
                        <a:t> for real-time detection and prepared it for </a:t>
                      </a:r>
                      <a:r>
                        <a:rPr lang="en-US" b="0" dirty="0"/>
                        <a:t>integration with surveillance systems.</a:t>
                      </a:r>
                      <a:endParaRPr lang="en-IN" b="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Recognized as the </a:t>
                      </a:r>
                      <a:r>
                        <a:rPr lang="en-US" b="0" dirty="0"/>
                        <a:t>technical expert </a:t>
                      </a:r>
                      <a:r>
                        <a:rPr lang="en-US" dirty="0"/>
                        <a:t>who ensured the model could run efficiently in real-time.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Motivated by the challenge of achieving reliable detection and building an early warning system that benefits communities.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914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0927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76200"/>
            <a:ext cx="6943915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Societal Impact of the Project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EFD58B-9953-DE6F-2D79-50DFD79F33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30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343557" y="825704"/>
            <a:ext cx="8692325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 MT"/>
              </a:rPr>
              <a:t> </a:t>
            </a:r>
            <a:r>
              <a:rPr lang="en-US" b="1" dirty="0" smtClean="0">
                <a:latin typeface="Arial MT"/>
              </a:rPr>
              <a:t>Enhances safety</a:t>
            </a:r>
            <a:r>
              <a:rPr lang="en-US" dirty="0" smtClean="0">
                <a:latin typeface="Arial MT"/>
              </a:rPr>
              <a:t> for villagers living near forest areas by reducing sudden human-elephant encounters.</a:t>
            </a:r>
          </a:p>
          <a:p>
            <a:pPr algn="just"/>
            <a:endParaRPr lang="en-US" dirty="0" smtClean="0">
              <a:latin typeface="Arial MT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 MT"/>
              </a:rPr>
              <a:t> </a:t>
            </a:r>
            <a:r>
              <a:rPr lang="en-US" b="1" dirty="0" smtClean="0">
                <a:latin typeface="Arial MT"/>
              </a:rPr>
              <a:t>Protects agricultural livelihoods</a:t>
            </a:r>
            <a:r>
              <a:rPr lang="en-US" dirty="0" smtClean="0">
                <a:latin typeface="Arial MT"/>
              </a:rPr>
              <a:t> by preventing crop destruction and property damage caused by elephant intrusions.</a:t>
            </a:r>
          </a:p>
          <a:p>
            <a:pPr algn="just"/>
            <a:endParaRPr lang="en-US" dirty="0" smtClean="0">
              <a:latin typeface="Arial MT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 MT"/>
              </a:rPr>
              <a:t> </a:t>
            </a:r>
            <a:r>
              <a:rPr lang="en-US" b="1" dirty="0" smtClean="0">
                <a:latin typeface="Arial MT"/>
              </a:rPr>
              <a:t>Provides timely alerts</a:t>
            </a:r>
            <a:r>
              <a:rPr lang="en-US" dirty="0" smtClean="0">
                <a:latin typeface="Arial MT"/>
              </a:rPr>
              <a:t> to both local communities and forest officials, allowing quick response and damage control.</a:t>
            </a:r>
          </a:p>
          <a:p>
            <a:pPr algn="just"/>
            <a:endParaRPr lang="en-US" dirty="0" smtClean="0">
              <a:latin typeface="Arial MT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 MT"/>
              </a:rPr>
              <a:t> </a:t>
            </a:r>
            <a:r>
              <a:rPr lang="en-US" b="1" dirty="0" smtClean="0">
                <a:latin typeface="Arial MT"/>
              </a:rPr>
              <a:t>Improves psychological well-being</a:t>
            </a:r>
            <a:r>
              <a:rPr lang="en-US" dirty="0" smtClean="0">
                <a:latin typeface="Arial MT"/>
              </a:rPr>
              <a:t> of residents by reducing fear and anxiety related to wildlife conflicts.</a:t>
            </a:r>
          </a:p>
          <a:p>
            <a:pPr algn="just"/>
            <a:endParaRPr lang="en-US" dirty="0" smtClean="0">
              <a:latin typeface="Arial MT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Arial MT"/>
              </a:rPr>
              <a:t>Supports peaceful coexistence</a:t>
            </a:r>
            <a:r>
              <a:rPr lang="en-US" dirty="0" smtClean="0">
                <a:latin typeface="Arial MT"/>
              </a:rPr>
              <a:t> between humans and wildlife, encouraging a balanced and sustainable environment.</a:t>
            </a:r>
          </a:p>
          <a:p>
            <a:pPr algn="just"/>
            <a:endParaRPr lang="en-US" dirty="0" smtClean="0">
              <a:latin typeface="Arial MT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 MT"/>
              </a:rPr>
              <a:t> </a:t>
            </a:r>
            <a:r>
              <a:rPr lang="en-US" b="1" dirty="0" smtClean="0">
                <a:latin typeface="Arial MT"/>
              </a:rPr>
              <a:t>Aligns with SDGs</a:t>
            </a:r>
            <a:r>
              <a:rPr lang="en-US" dirty="0" smtClean="0">
                <a:latin typeface="Arial MT"/>
              </a:rPr>
              <a:t>, especially in wildlife protection, sustainable communities, and responsible innovation.</a:t>
            </a:r>
          </a:p>
          <a:p>
            <a:pPr algn="just"/>
            <a:endParaRPr lang="en-US" dirty="0" smtClean="0">
              <a:latin typeface="Arial MT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 MT"/>
              </a:rPr>
              <a:t> </a:t>
            </a:r>
            <a:r>
              <a:rPr lang="en-US" b="1" dirty="0" smtClean="0">
                <a:latin typeface="Arial MT"/>
              </a:rPr>
              <a:t>Scalable and replicable model</a:t>
            </a:r>
            <a:r>
              <a:rPr lang="en-US" dirty="0" smtClean="0">
                <a:latin typeface="Arial MT"/>
              </a:rPr>
              <a:t> for other regions in India and globally facing similar human-wildlife conflict issues.</a:t>
            </a:r>
            <a:endParaRPr lang="en-IN" dirty="0" smtClean="0">
              <a:latin typeface="Arial MT"/>
            </a:endParaRPr>
          </a:p>
          <a:p>
            <a:pPr algn="ctr"/>
            <a:endParaRPr lang="en-IN" dirty="0" smtClean="0">
              <a:solidFill>
                <a:srgbClr val="FF0000"/>
              </a:solidFill>
              <a:latin typeface="Arial MT"/>
            </a:endParaRPr>
          </a:p>
          <a:p>
            <a:pPr algn="ctr"/>
            <a:endParaRPr lang="en-IN" dirty="0">
              <a:solidFill>
                <a:srgbClr val="FF0000"/>
              </a:solidFill>
              <a:latin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4430516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5859" y="-83199"/>
            <a:ext cx="6943915" cy="698268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pc="-10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A63676-54BF-4E36-6722-F171995EB51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31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38315" y="615069"/>
            <a:ext cx="8799005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en-IN" sz="1800" dirty="0" smtClean="0"/>
              <a:t>Morrison, J., Chatterjee, M., </a:t>
            </a:r>
            <a:r>
              <a:rPr lang="en-IN" sz="1800" dirty="0" err="1" smtClean="0"/>
              <a:t>Ramkumar</a:t>
            </a:r>
            <a:r>
              <a:rPr lang="en-IN" sz="1800" dirty="0" smtClean="0"/>
              <a:t>, K., Tiwari, S., Walker, S. L., Wilson, S., &amp; Zimmermann, A. (2025). </a:t>
            </a:r>
            <a:r>
              <a:rPr lang="en-IN" sz="1800" i="1" dirty="0" smtClean="0"/>
              <a:t>Spatiotemporal distribution of negative human-elephant interactions in </a:t>
            </a:r>
            <a:r>
              <a:rPr lang="en-IN" sz="1800" i="1" dirty="0" err="1" smtClean="0"/>
              <a:t>Wayanad</a:t>
            </a:r>
            <a:r>
              <a:rPr lang="en-IN" sz="1800" i="1" dirty="0" smtClean="0"/>
              <a:t> district, Kerala, India</a:t>
            </a:r>
            <a:r>
              <a:rPr lang="en-IN" sz="1800" dirty="0" smtClean="0"/>
              <a:t>. Global Ecology and Conservation, 62, e03742. </a:t>
            </a:r>
            <a:r>
              <a:rPr lang="en-IN" sz="1800" dirty="0" smtClean="0">
                <a:hlinkClick r:id="rId2"/>
              </a:rPr>
              <a:t>https://doi.org/10.1016/j.gecco.2025.e03742</a:t>
            </a:r>
            <a:endParaRPr lang="en-IN" sz="1800" dirty="0" smtClean="0"/>
          </a:p>
          <a:p>
            <a:pPr marL="342900" indent="-342900" algn="just">
              <a:buAutoNum type="arabicPeriod"/>
            </a:pPr>
            <a:endParaRPr lang="en-IN" sz="1800" dirty="0" smtClean="0"/>
          </a:p>
          <a:p>
            <a:pPr marL="342900" indent="-342900" algn="just">
              <a:buAutoNum type="arabicPeriod"/>
            </a:pPr>
            <a:r>
              <a:rPr lang="en-US" sz="1800" dirty="0" smtClean="0"/>
              <a:t> </a:t>
            </a:r>
            <a:r>
              <a:rPr lang="en-IN" sz="1800" dirty="0" smtClean="0"/>
              <a:t> M. </a:t>
            </a:r>
            <a:r>
              <a:rPr lang="en-IN" sz="1800" dirty="0" err="1" smtClean="0"/>
              <a:t>Jothibasu</a:t>
            </a:r>
            <a:r>
              <a:rPr lang="en-IN" sz="1800" dirty="0" smtClean="0"/>
              <a:t>, M. </a:t>
            </a:r>
            <a:r>
              <a:rPr lang="en-IN" sz="1800" dirty="0" err="1" smtClean="0"/>
              <a:t>Sowmiya</a:t>
            </a:r>
            <a:r>
              <a:rPr lang="en-IN" sz="1800" dirty="0" smtClean="0"/>
              <a:t>, R. </a:t>
            </a:r>
            <a:r>
              <a:rPr lang="en-IN" sz="1800" dirty="0" err="1" smtClean="0"/>
              <a:t>Harsha</a:t>
            </a:r>
            <a:r>
              <a:rPr lang="en-IN" sz="1800" dirty="0" smtClean="0"/>
              <a:t>, K.S. Naveen, T.B. </a:t>
            </a:r>
            <a:r>
              <a:rPr lang="en-IN" sz="1800" dirty="0" err="1" smtClean="0"/>
              <a:t>Suriyaprakash</a:t>
            </a:r>
            <a:r>
              <a:rPr lang="en-IN" sz="1800" dirty="0" smtClean="0"/>
              <a:t>, Improvement of computer vision-based elephant intrusion detection system (EIDS) with deep learning models, </a:t>
            </a:r>
            <a:r>
              <a:rPr lang="en-IN" sz="1800" dirty="0" err="1" smtClean="0"/>
              <a:t>Innov</a:t>
            </a:r>
            <a:r>
              <a:rPr lang="en-IN" sz="1800" dirty="0" smtClean="0"/>
              <a:t>. Eng. AI Appl. (2023) 131–153.</a:t>
            </a:r>
          </a:p>
          <a:p>
            <a:pPr marL="342900" indent="-342900" algn="just">
              <a:buAutoNum type="arabicPeriod"/>
            </a:pPr>
            <a:endParaRPr lang="en-IN" sz="1800" dirty="0" smtClean="0"/>
          </a:p>
          <a:p>
            <a:pPr marL="342900" indent="-342900" algn="just">
              <a:buAutoNum type="arabicPeriod"/>
            </a:pPr>
            <a:r>
              <a:rPr lang="en-US" sz="1800" dirty="0" smtClean="0"/>
              <a:t> </a:t>
            </a:r>
            <a:r>
              <a:rPr lang="en-IN" sz="1800" dirty="0" err="1" smtClean="0"/>
              <a:t>Gunaratna</a:t>
            </a:r>
            <a:r>
              <a:rPr lang="en-IN" sz="1800" dirty="0" smtClean="0"/>
              <a:t>, C., </a:t>
            </a:r>
            <a:r>
              <a:rPr lang="en-IN" sz="1800" dirty="0" err="1" smtClean="0"/>
              <a:t>Rajendran</a:t>
            </a:r>
            <a:r>
              <a:rPr lang="en-IN" sz="1800" dirty="0" smtClean="0"/>
              <a:t>, M., </a:t>
            </a:r>
            <a:r>
              <a:rPr lang="en-IN" sz="1800" dirty="0" err="1" smtClean="0"/>
              <a:t>Sundaram</a:t>
            </a:r>
            <a:r>
              <a:rPr lang="en-IN" sz="1800" dirty="0" smtClean="0"/>
              <a:t>, S., &amp; Prasad, R. (2024). </a:t>
            </a:r>
            <a:r>
              <a:rPr lang="en-IN" sz="1800" i="1" dirty="0" smtClean="0"/>
              <a:t>Deep learning for real-time wildlife intrusion detection with colour distribution preserved GANs</a:t>
            </a:r>
            <a:r>
              <a:rPr lang="en-IN" sz="1800" dirty="0" smtClean="0"/>
              <a:t>. Ecological Informatics, 78, 102362. </a:t>
            </a:r>
            <a:r>
              <a:rPr lang="en-IN" sz="1800" dirty="0" smtClean="0">
                <a:hlinkClick r:id="rId3"/>
              </a:rPr>
              <a:t>https://doi.org/10.1016/j.ecoinf.2024.102362</a:t>
            </a:r>
            <a:endParaRPr lang="en-IN" sz="1800" dirty="0" smtClean="0"/>
          </a:p>
          <a:p>
            <a:pPr marL="342900" indent="-342900" algn="just">
              <a:buAutoNum type="arabicPeriod"/>
            </a:pPr>
            <a:endParaRPr lang="en-IN" sz="1800" dirty="0" smtClean="0"/>
          </a:p>
          <a:p>
            <a:pPr marL="342900" indent="-342900" algn="just">
              <a:buAutoNum type="arabicPeriod"/>
            </a:pPr>
            <a:r>
              <a:rPr lang="en-US" sz="1800" dirty="0" smtClean="0"/>
              <a:t> </a:t>
            </a:r>
            <a:r>
              <a:rPr lang="en-US" sz="1800" dirty="0" err="1" smtClean="0"/>
              <a:t>Rathnayake</a:t>
            </a:r>
            <a:r>
              <a:rPr lang="en-US" sz="1800" dirty="0" smtClean="0"/>
              <a:t>, C. W., Jones, S., Soto-</a:t>
            </a:r>
            <a:r>
              <a:rPr lang="en-US" sz="1800" dirty="0" err="1" smtClean="0"/>
              <a:t>Berelov</a:t>
            </a:r>
            <a:r>
              <a:rPr lang="en-US" sz="1800" dirty="0" smtClean="0"/>
              <a:t>, M., &amp; Wallace, L. (2020). A geospatial approach for mapping and predicting human–elephant conflict. </a:t>
            </a:r>
            <a:r>
              <a:rPr lang="en-US" sz="1800" i="1" dirty="0" smtClean="0"/>
              <a:t>Ecological Informatics, 56</a:t>
            </a:r>
            <a:r>
              <a:rPr lang="en-US" sz="1800" dirty="0" smtClean="0"/>
              <a:t>, 101065. </a:t>
            </a:r>
            <a:r>
              <a:rPr lang="en-US" sz="1800" dirty="0" smtClean="0">
                <a:hlinkClick r:id="rId4"/>
              </a:rPr>
              <a:t>https://doi.org/10.1016/j.ecoinf.2020.101065</a:t>
            </a:r>
            <a:r>
              <a:rPr lang="en-US" sz="1800" dirty="0" smtClean="0"/>
              <a:t> </a:t>
            </a:r>
          </a:p>
          <a:p>
            <a:pPr marL="342900" indent="-342900" algn="just">
              <a:buAutoNum type="arabicPeriod"/>
            </a:pPr>
            <a:endParaRPr lang="en-US" sz="1800" dirty="0" smtClean="0"/>
          </a:p>
          <a:p>
            <a:pPr marL="342900" indent="-342900" algn="just">
              <a:buAutoNum type="arabicPeriod"/>
            </a:pPr>
            <a:r>
              <a:rPr lang="en-US" sz="1800" dirty="0" smtClean="0"/>
              <a:t> Dutta, S., Ghosh, S., &amp; Kumar, A. (2021). Intelligent detection and alert system to prevent railway accidents due to elephant crossing. </a:t>
            </a:r>
            <a:r>
              <a:rPr lang="en-US" sz="1800" i="1" dirty="0" smtClean="0"/>
              <a:t>Materials Today: Proceedings</a:t>
            </a:r>
            <a:r>
              <a:rPr lang="en-US" sz="1800" dirty="0" smtClean="0"/>
              <a:t>. </a:t>
            </a:r>
            <a:r>
              <a:rPr lang="en-US" sz="1800" dirty="0" smtClean="0">
                <a:hlinkClick r:id="rId5"/>
              </a:rPr>
              <a:t>https://doi.org/10.1016/j.matpr.2021.01.161</a:t>
            </a:r>
            <a:endParaRPr lang="en-US" sz="1800" dirty="0" smtClean="0"/>
          </a:p>
          <a:p>
            <a:pPr algn="just"/>
            <a:r>
              <a:rPr lang="en-US" sz="1800" dirty="0" smtClean="0"/>
              <a:t> </a:t>
            </a:r>
            <a:endParaRPr lang="en-IN" sz="1800" dirty="0" smtClean="0"/>
          </a:p>
          <a:p>
            <a:pPr algn="just"/>
            <a:endParaRPr lang="en-IN" dirty="0" smtClean="0">
              <a:solidFill>
                <a:srgbClr val="FF0000"/>
              </a:solidFill>
            </a:endParaRPr>
          </a:p>
          <a:p>
            <a:pPr algn="just"/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2336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8400" y="2209800"/>
            <a:ext cx="40386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FF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Thank</a:t>
            </a:r>
            <a:r>
              <a:rPr sz="4400" spc="-25" dirty="0">
                <a:solidFill>
                  <a:srgbClr val="0000FF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 </a:t>
            </a:r>
            <a:r>
              <a:rPr lang="en-IN" sz="4400" spc="-25" dirty="0">
                <a:solidFill>
                  <a:srgbClr val="0000FF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Y</a:t>
            </a:r>
            <a:r>
              <a:rPr sz="4400" dirty="0" err="1">
                <a:solidFill>
                  <a:srgbClr val="0000FF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ou</a:t>
            </a:r>
            <a:r>
              <a:rPr sz="4400" spc="-15" dirty="0">
                <a:solidFill>
                  <a:srgbClr val="0000FF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 </a:t>
            </a:r>
            <a:r>
              <a:rPr sz="4400" spc="-50" dirty="0">
                <a:solidFill>
                  <a:srgbClr val="0000FF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!</a:t>
            </a:r>
            <a:endParaRPr sz="4400" dirty="0">
              <a:solidFill>
                <a:srgbClr val="0000FF"/>
              </a:solidFill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7D9D40-B01D-D091-54F5-F4F7762B0AE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32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</TotalTime>
  <Words>2632</Words>
  <Application>Microsoft Office PowerPoint</Application>
  <PresentationFormat>On-screen Show (4:3)</PresentationFormat>
  <Paragraphs>335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SimSun-ExtB</vt:lpstr>
      <vt:lpstr>Arial</vt:lpstr>
      <vt:lpstr>Arial MT</vt:lpstr>
      <vt:lpstr>Calibri</vt:lpstr>
      <vt:lpstr>Times New Roman</vt:lpstr>
      <vt:lpstr>Wingdings</vt:lpstr>
      <vt:lpstr>Office Theme</vt:lpstr>
      <vt:lpstr>UEE2818 – Project Phase - 2</vt:lpstr>
      <vt:lpstr>Objectives of the Project</vt:lpstr>
      <vt:lpstr>Problem Formulation &amp; Justification</vt:lpstr>
      <vt:lpstr>Block Diagram of the Project</vt:lpstr>
      <vt:lpstr>Explanation of the Project</vt:lpstr>
      <vt:lpstr>Explanation of the Project</vt:lpstr>
      <vt:lpstr>Explanation of the Project</vt:lpstr>
      <vt:lpstr>Explanation of the Project</vt:lpstr>
      <vt:lpstr>Explanation of the Project</vt:lpstr>
      <vt:lpstr>Literature Review</vt:lpstr>
      <vt:lpstr>Literature Review</vt:lpstr>
      <vt:lpstr>Literature Review</vt:lpstr>
      <vt:lpstr>Literature Review</vt:lpstr>
      <vt:lpstr>Methodology / Work Flow</vt:lpstr>
      <vt:lpstr>Approaches Planned to Execute the Project</vt:lpstr>
      <vt:lpstr>Work completed and Work plan Review 3</vt:lpstr>
      <vt:lpstr>Work Progress after Review 1</vt:lpstr>
      <vt:lpstr>Design Improvements</vt:lpstr>
      <vt:lpstr>Hardware Development</vt:lpstr>
      <vt:lpstr>Hardware Development</vt:lpstr>
      <vt:lpstr>Components used &amp; Justification of their selection </vt:lpstr>
      <vt:lpstr>Experimental Results</vt:lpstr>
      <vt:lpstr>Analyses of experimental results/data</vt:lpstr>
      <vt:lpstr>Work plan for Review 3</vt:lpstr>
      <vt:lpstr>Financial Plan</vt:lpstr>
      <vt:lpstr>Mapping of the Project with SDGs</vt:lpstr>
      <vt:lpstr>Team Dynamics (includes team member contributions, team member recognition, team motivation)</vt:lpstr>
      <vt:lpstr>Team Dynamics (includes team member contributions, team member recognition, team motivation)</vt:lpstr>
      <vt:lpstr>Team Dynamics (includes team member contributions, team member recognition, team motivation)</vt:lpstr>
      <vt:lpstr>Societal Impact of the Project</vt:lpstr>
      <vt:lpstr>References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Aswin S</dc:creator>
  <cp:lastModifiedBy>Hp</cp:lastModifiedBy>
  <cp:revision>42</cp:revision>
  <dcterms:created xsi:type="dcterms:W3CDTF">2024-08-21T16:54:45Z</dcterms:created>
  <dcterms:modified xsi:type="dcterms:W3CDTF">2026-02-11T02:29:58Z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2024-08-21T00:00:00Z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2024-08-21T00:00:00Z</vt:filetime>
  </property>
  <property fmtid="{D5CDD505-2E9C-101B-9397-08002B2CF9AE}" pid="5" name="Producer">
    <vt:lpwstr>Microsoft® PowerPoint® 2021</vt:lpwstr>
  </property>
</Properties>
</file>